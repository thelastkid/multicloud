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9" r:id="rId3"/>
    <p:sldId id="261" r:id="rId4"/>
    <p:sldId id="298" r:id="rId5"/>
    <p:sldId id="270" r:id="rId6"/>
    <p:sldId id="306" r:id="rId7"/>
    <p:sldId id="289" r:id="rId8"/>
    <p:sldId id="303" r:id="rId9"/>
    <p:sldId id="304" r:id="rId10"/>
    <p:sldId id="305" r:id="rId11"/>
    <p:sldId id="30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9" d="100"/>
          <a:sy n="89" d="100"/>
        </p:scale>
        <p:origin x="466"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A212DC-63B1-4901-BBA1-0E9BAC33D41C}" type="datetimeFigureOut">
              <a:rPr lang="en-IN" smtClean="0"/>
              <a:pPr/>
              <a:t>31-03-2026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AF3EA8-841E-473D-8AEC-E28FC8B0AF52}"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384BBED-9D3F-4E8C-A31D-76A22EE88FEB}" type="datetime1">
              <a:rPr lang="en-IN" smtClean="0"/>
              <a:pPr/>
              <a:t>31-03-2026</a:t>
            </a:fld>
            <a:endParaRPr lang="en-IN"/>
          </a:p>
        </p:txBody>
      </p:sp>
      <p:sp>
        <p:nvSpPr>
          <p:cNvPr id="5" name="Footer Placeholder 4"/>
          <p:cNvSpPr>
            <a:spLocks noGrp="1"/>
          </p:cNvSpPr>
          <p:nvPr>
            <p:ph type="ftr" sz="quarter" idx="11"/>
          </p:nvPr>
        </p:nvSpPr>
        <p:spPr/>
        <p:txBody>
          <a:bodyPr/>
          <a:lstStyle/>
          <a:p>
            <a:r>
              <a:rPr lang="en-IN"/>
              <a:t>Dept. of ______, SVIT</a:t>
            </a:r>
          </a:p>
        </p:txBody>
      </p:sp>
      <p:sp>
        <p:nvSpPr>
          <p:cNvPr id="6" name="Slide Number Placeholder 5"/>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575E127-F269-4258-80A4-1372D3C00E8F}" type="datetime1">
              <a:rPr lang="en-IN" smtClean="0"/>
              <a:pPr/>
              <a:t>31-03-2026</a:t>
            </a:fld>
            <a:endParaRPr lang="en-IN"/>
          </a:p>
        </p:txBody>
      </p:sp>
      <p:sp>
        <p:nvSpPr>
          <p:cNvPr id="5" name="Footer Placeholder 4"/>
          <p:cNvSpPr>
            <a:spLocks noGrp="1"/>
          </p:cNvSpPr>
          <p:nvPr>
            <p:ph type="ftr" sz="quarter" idx="11"/>
          </p:nvPr>
        </p:nvSpPr>
        <p:spPr/>
        <p:txBody>
          <a:bodyPr/>
          <a:lstStyle/>
          <a:p>
            <a:r>
              <a:rPr lang="en-IN"/>
              <a:t>Dept. of ______, SVIT</a:t>
            </a:r>
          </a:p>
        </p:txBody>
      </p:sp>
      <p:sp>
        <p:nvSpPr>
          <p:cNvPr id="6" name="Slide Number Placeholder 5"/>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6EAF1-28FB-47DB-A52B-7DD7F4094843}" type="datetime1">
              <a:rPr lang="en-IN" smtClean="0"/>
              <a:pPr/>
              <a:t>31-03-2026</a:t>
            </a:fld>
            <a:endParaRPr lang="en-IN"/>
          </a:p>
        </p:txBody>
      </p:sp>
      <p:sp>
        <p:nvSpPr>
          <p:cNvPr id="5" name="Footer Placeholder 4"/>
          <p:cNvSpPr>
            <a:spLocks noGrp="1"/>
          </p:cNvSpPr>
          <p:nvPr>
            <p:ph type="ftr" sz="quarter" idx="11"/>
          </p:nvPr>
        </p:nvSpPr>
        <p:spPr/>
        <p:txBody>
          <a:bodyPr/>
          <a:lstStyle/>
          <a:p>
            <a:r>
              <a:rPr lang="en-IN"/>
              <a:t>Dept. of ______, SVIT</a:t>
            </a:r>
          </a:p>
        </p:txBody>
      </p:sp>
      <p:sp>
        <p:nvSpPr>
          <p:cNvPr id="6" name="Slide Number Placeholder 5"/>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1712493-AA25-487D-8635-16C3A88B4A31}" type="datetime1">
              <a:rPr lang="en-IN" smtClean="0"/>
              <a:pPr/>
              <a:t>31-03-2026</a:t>
            </a:fld>
            <a:endParaRPr lang="en-IN"/>
          </a:p>
        </p:txBody>
      </p:sp>
      <p:sp>
        <p:nvSpPr>
          <p:cNvPr id="6" name="Footer Placeholder 5"/>
          <p:cNvSpPr>
            <a:spLocks noGrp="1"/>
          </p:cNvSpPr>
          <p:nvPr>
            <p:ph type="ftr" sz="quarter" idx="11"/>
          </p:nvPr>
        </p:nvSpPr>
        <p:spPr/>
        <p:txBody>
          <a:bodyPr/>
          <a:lstStyle/>
          <a:p>
            <a:r>
              <a:rPr lang="en-IN"/>
              <a:t>Dept. of ______, SVIT</a:t>
            </a:r>
          </a:p>
        </p:txBody>
      </p:sp>
      <p:sp>
        <p:nvSpPr>
          <p:cNvPr id="7" name="Slide Number Placeholder 6"/>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D15DECB-9A6B-47E9-8A6F-D77F03DD63AE}" type="datetime1">
              <a:rPr lang="en-IN" smtClean="0"/>
              <a:pPr/>
              <a:t>31-03-2026</a:t>
            </a:fld>
            <a:endParaRPr lang="en-IN"/>
          </a:p>
        </p:txBody>
      </p:sp>
      <p:sp>
        <p:nvSpPr>
          <p:cNvPr id="8" name="Footer Placeholder 7"/>
          <p:cNvSpPr>
            <a:spLocks noGrp="1"/>
          </p:cNvSpPr>
          <p:nvPr>
            <p:ph type="ftr" sz="quarter" idx="11"/>
          </p:nvPr>
        </p:nvSpPr>
        <p:spPr/>
        <p:txBody>
          <a:bodyPr/>
          <a:lstStyle/>
          <a:p>
            <a:r>
              <a:rPr lang="en-IN"/>
              <a:t>Dept. of ______, SVIT</a:t>
            </a:r>
          </a:p>
        </p:txBody>
      </p:sp>
      <p:sp>
        <p:nvSpPr>
          <p:cNvPr id="9" name="Slide Number Placeholder 8"/>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4B391F4-8B9E-488E-9E09-6D97621EC7E8}" type="datetime1">
              <a:rPr lang="en-IN" smtClean="0"/>
              <a:pPr/>
              <a:t>31-03-2026</a:t>
            </a:fld>
            <a:endParaRPr lang="en-IN"/>
          </a:p>
        </p:txBody>
      </p:sp>
      <p:sp>
        <p:nvSpPr>
          <p:cNvPr id="4" name="Footer Placeholder 3"/>
          <p:cNvSpPr>
            <a:spLocks noGrp="1"/>
          </p:cNvSpPr>
          <p:nvPr>
            <p:ph type="ftr" sz="quarter" idx="11"/>
          </p:nvPr>
        </p:nvSpPr>
        <p:spPr/>
        <p:txBody>
          <a:bodyPr/>
          <a:lstStyle/>
          <a:p>
            <a:r>
              <a:rPr lang="en-IN"/>
              <a:t>Dept. of ______, SVIT</a:t>
            </a:r>
          </a:p>
        </p:txBody>
      </p:sp>
      <p:sp>
        <p:nvSpPr>
          <p:cNvPr id="5" name="Slide Number Placeholder 4"/>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B56ECC-4156-47B9-B6C5-A7C7632DDAB1}" type="datetime1">
              <a:rPr lang="en-IN" smtClean="0"/>
              <a:pPr/>
              <a:t>31-03-2026</a:t>
            </a:fld>
            <a:endParaRPr lang="en-IN"/>
          </a:p>
        </p:txBody>
      </p:sp>
      <p:sp>
        <p:nvSpPr>
          <p:cNvPr id="3" name="Footer Placeholder 2"/>
          <p:cNvSpPr>
            <a:spLocks noGrp="1"/>
          </p:cNvSpPr>
          <p:nvPr>
            <p:ph type="ftr" sz="quarter" idx="11"/>
          </p:nvPr>
        </p:nvSpPr>
        <p:spPr/>
        <p:txBody>
          <a:bodyPr/>
          <a:lstStyle/>
          <a:p>
            <a:r>
              <a:rPr lang="en-IN"/>
              <a:t>Dept. of ______, SVIT</a:t>
            </a:r>
          </a:p>
        </p:txBody>
      </p:sp>
      <p:sp>
        <p:nvSpPr>
          <p:cNvPr id="4" name="Slide Number Placeholder 3"/>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3CA7FB-8CAD-4526-8C8B-7EC5B1C9A4A6}" type="datetime1">
              <a:rPr lang="en-IN" smtClean="0"/>
              <a:pPr/>
              <a:t>31-03-2026</a:t>
            </a:fld>
            <a:endParaRPr lang="en-IN"/>
          </a:p>
        </p:txBody>
      </p:sp>
      <p:sp>
        <p:nvSpPr>
          <p:cNvPr id="6" name="Footer Placeholder 5"/>
          <p:cNvSpPr>
            <a:spLocks noGrp="1"/>
          </p:cNvSpPr>
          <p:nvPr>
            <p:ph type="ftr" sz="quarter" idx="11"/>
          </p:nvPr>
        </p:nvSpPr>
        <p:spPr/>
        <p:txBody>
          <a:bodyPr/>
          <a:lstStyle/>
          <a:p>
            <a:r>
              <a:rPr lang="en-IN"/>
              <a:t>Dept. of ______, SVIT</a:t>
            </a:r>
          </a:p>
        </p:txBody>
      </p:sp>
      <p:sp>
        <p:nvSpPr>
          <p:cNvPr id="7" name="Slide Number Placeholder 6"/>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32C8DB-8A26-4D7B-863F-CF0724AEE9FE}" type="datetime1">
              <a:rPr lang="en-IN" smtClean="0"/>
              <a:pPr/>
              <a:t>31-03-2026</a:t>
            </a:fld>
            <a:endParaRPr lang="en-IN"/>
          </a:p>
        </p:txBody>
      </p:sp>
      <p:sp>
        <p:nvSpPr>
          <p:cNvPr id="6" name="Footer Placeholder 5"/>
          <p:cNvSpPr>
            <a:spLocks noGrp="1"/>
          </p:cNvSpPr>
          <p:nvPr>
            <p:ph type="ftr" sz="quarter" idx="11"/>
          </p:nvPr>
        </p:nvSpPr>
        <p:spPr/>
        <p:txBody>
          <a:bodyPr/>
          <a:lstStyle/>
          <a:p>
            <a:r>
              <a:rPr lang="en-IN"/>
              <a:t>Dept. of ______, SVIT</a:t>
            </a:r>
          </a:p>
        </p:txBody>
      </p:sp>
      <p:sp>
        <p:nvSpPr>
          <p:cNvPr id="7" name="Slide Number Placeholder 6"/>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4AEDF3A-537D-4782-93FF-26FDB1360200}" type="datetime1">
              <a:rPr lang="en-IN" smtClean="0"/>
              <a:pPr/>
              <a:t>31-03-2026</a:t>
            </a:fld>
            <a:endParaRPr lang="en-IN"/>
          </a:p>
        </p:txBody>
      </p:sp>
      <p:sp>
        <p:nvSpPr>
          <p:cNvPr id="5" name="Footer Placeholder 4"/>
          <p:cNvSpPr>
            <a:spLocks noGrp="1"/>
          </p:cNvSpPr>
          <p:nvPr>
            <p:ph type="ftr" sz="quarter" idx="11"/>
          </p:nvPr>
        </p:nvSpPr>
        <p:spPr/>
        <p:txBody>
          <a:bodyPr/>
          <a:lstStyle/>
          <a:p>
            <a:r>
              <a:rPr lang="en-IN"/>
              <a:t>Dept. of ______, SVIT</a:t>
            </a:r>
          </a:p>
        </p:txBody>
      </p:sp>
      <p:sp>
        <p:nvSpPr>
          <p:cNvPr id="6" name="Slide Number Placeholder 5"/>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73CAB0-2917-41E3-BC62-F04238BDCF53}" type="datetime1">
              <a:rPr lang="en-IN" smtClean="0"/>
              <a:pPr/>
              <a:t>31-03-2026</a:t>
            </a:fld>
            <a:endParaRPr lang="en-IN"/>
          </a:p>
        </p:txBody>
      </p:sp>
      <p:sp>
        <p:nvSpPr>
          <p:cNvPr id="5" name="Footer Placeholder 4"/>
          <p:cNvSpPr>
            <a:spLocks noGrp="1"/>
          </p:cNvSpPr>
          <p:nvPr>
            <p:ph type="ftr" sz="quarter" idx="11"/>
          </p:nvPr>
        </p:nvSpPr>
        <p:spPr/>
        <p:txBody>
          <a:bodyPr/>
          <a:lstStyle/>
          <a:p>
            <a:r>
              <a:rPr lang="en-IN"/>
              <a:t>Dept. of ______, SVIT</a:t>
            </a:r>
          </a:p>
        </p:txBody>
      </p:sp>
      <p:sp>
        <p:nvSpPr>
          <p:cNvPr id="6" name="Slide Number Placeholder 5"/>
          <p:cNvSpPr>
            <a:spLocks noGrp="1"/>
          </p:cNvSpPr>
          <p:nvPr>
            <p:ph type="sldNum" sz="quarter" idx="12"/>
          </p:nvPr>
        </p:nvSpPr>
        <p:spPr/>
        <p:txBody>
          <a:bodyPr/>
          <a:lstStyle/>
          <a:p>
            <a:fld id="{249020A1-FA28-4834-83A8-C0CE35CB1668}"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9D414-CE7D-46FB-9603-64E2DC9BB488}" type="datetime1">
              <a:rPr lang="en-IN" smtClean="0"/>
              <a:pPr/>
              <a:t>31-03-2026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______, SVIT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020A1-FA28-4834-83A8-C0CE35CB1668}"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 y="690637"/>
            <a:ext cx="12192000" cy="913827"/>
          </a:xfrm>
        </p:spPr>
        <p:txBody>
          <a:bodyPr>
            <a:normAutofit/>
          </a:bodyPr>
          <a:lstStyle/>
          <a:p>
            <a:r>
              <a:rPr lang="en-US" altLang="en-IN" sz="4400" b="1" dirty="0">
                <a:ln w="22225">
                  <a:solidFill>
                    <a:srgbClr val="C00000"/>
                  </a:solidFill>
                  <a:prstDash val="solid"/>
                </a:ln>
                <a:solidFill>
                  <a:srgbClr val="C00000"/>
                </a:solidFill>
              </a:rPr>
              <a:t>RAJARAJESWARI COLLEGE OF ENGINEERING</a:t>
            </a:r>
          </a:p>
        </p:txBody>
      </p:sp>
      <p:sp>
        <p:nvSpPr>
          <p:cNvPr id="3" name="Subtitle 2"/>
          <p:cNvSpPr>
            <a:spLocks noGrp="1"/>
          </p:cNvSpPr>
          <p:nvPr>
            <p:ph type="subTitle" idx="1"/>
          </p:nvPr>
        </p:nvSpPr>
        <p:spPr>
          <a:xfrm>
            <a:off x="1523998" y="1571090"/>
            <a:ext cx="9144000" cy="461499"/>
          </a:xfrm>
        </p:spPr>
        <p:txBody>
          <a:bodyPr>
            <a:normAutofit/>
          </a:bodyPr>
          <a:lstStyle/>
          <a:p>
            <a:r>
              <a:rPr lang="en-US" altLang="en-IN" b="1" dirty="0"/>
              <a:t>Kumbalgodu Bengaluru-560074</a:t>
            </a:r>
          </a:p>
        </p:txBody>
      </p:sp>
      <p:sp>
        <p:nvSpPr>
          <p:cNvPr id="5" name="TextBox 4"/>
          <p:cNvSpPr txBox="1"/>
          <p:nvPr/>
        </p:nvSpPr>
        <p:spPr>
          <a:xfrm>
            <a:off x="2395977" y="3503236"/>
            <a:ext cx="7400042" cy="1198880"/>
          </a:xfrm>
          <a:prstGeom prst="rect">
            <a:avLst/>
          </a:prstGeom>
          <a:noFill/>
        </p:spPr>
        <p:txBody>
          <a:bodyPr wrap="square" rtlCol="0">
            <a:spAutoFit/>
          </a:bodyPr>
          <a:lstStyle/>
          <a:p>
            <a:pPr algn="ctr"/>
            <a:r>
              <a:rPr lang="en-IN" altLang="en-IN" sz="2400" b="1" dirty="0" smtClean="0">
                <a:solidFill>
                  <a:srgbClr val="002060"/>
                </a:solidFill>
              </a:rPr>
              <a:t>Synopsis Review</a:t>
            </a:r>
            <a:endParaRPr lang="en-US" altLang="en-IN" sz="2400" b="1" dirty="0">
              <a:solidFill>
                <a:srgbClr val="002060"/>
              </a:solidFill>
            </a:endParaRPr>
          </a:p>
          <a:p>
            <a:pPr algn="ctr"/>
            <a:r>
              <a:rPr lang="en-US" altLang="en-IN" sz="2400" b="1" dirty="0">
                <a:solidFill>
                  <a:srgbClr val="002060"/>
                </a:solidFill>
              </a:rPr>
              <a:t>on</a:t>
            </a:r>
            <a:endParaRPr lang="en-IN" sz="2400" b="1" dirty="0">
              <a:solidFill>
                <a:srgbClr val="002060"/>
              </a:solidFill>
            </a:endParaRPr>
          </a:p>
          <a:p>
            <a:pPr algn="ctr"/>
            <a:r>
              <a:rPr lang="en-US" altLang="en-IN" sz="2400" b="1" dirty="0">
                <a:solidFill>
                  <a:srgbClr val="002060"/>
                </a:solidFill>
              </a:rPr>
              <a:t>Multi Cloud Infrastructure Optimization Using </a:t>
            </a:r>
            <a:r>
              <a:rPr lang="en-US" altLang="en-IN" sz="2400" b="1" dirty="0" err="1">
                <a:solidFill>
                  <a:srgbClr val="002060"/>
                </a:solidFill>
              </a:rPr>
              <a:t>MLOps</a:t>
            </a:r>
            <a:endParaRPr lang="en-US" altLang="en-IN" sz="2400" b="1" dirty="0">
              <a:solidFill>
                <a:srgbClr val="002060"/>
              </a:solidFill>
            </a:endParaRPr>
          </a:p>
        </p:txBody>
      </p:sp>
      <p:sp>
        <p:nvSpPr>
          <p:cNvPr id="6" name="TextBox 5"/>
          <p:cNvSpPr txBox="1"/>
          <p:nvPr/>
        </p:nvSpPr>
        <p:spPr>
          <a:xfrm>
            <a:off x="188536" y="4825411"/>
            <a:ext cx="4355472" cy="1938992"/>
          </a:xfrm>
          <a:prstGeom prst="rect">
            <a:avLst/>
          </a:prstGeom>
          <a:noFill/>
          <a:ln>
            <a:noFill/>
          </a:ln>
        </p:spPr>
        <p:txBody>
          <a:bodyPr wrap="square" rtlCol="0">
            <a:spAutoFit/>
          </a:bodyPr>
          <a:lstStyle/>
          <a:p>
            <a:pPr algn="ctr"/>
            <a:r>
              <a:rPr lang="en-IN" sz="2400" b="1" dirty="0">
                <a:solidFill>
                  <a:srgbClr val="002060"/>
                </a:solidFill>
                <a:sym typeface="+mn-ea"/>
              </a:rPr>
              <a:t>By</a:t>
            </a:r>
            <a:endParaRPr lang="en-IN" sz="2400" b="1" dirty="0">
              <a:solidFill>
                <a:srgbClr val="002060"/>
              </a:solidFill>
            </a:endParaRPr>
          </a:p>
          <a:p>
            <a:pPr algn="ctr"/>
            <a:r>
              <a:rPr lang="en-IN" sz="2400" b="1" dirty="0" err="1">
                <a:solidFill>
                  <a:srgbClr val="002060"/>
                </a:solidFill>
                <a:sym typeface="+mn-ea"/>
              </a:rPr>
              <a:t>Prajwal</a:t>
            </a:r>
            <a:r>
              <a:rPr lang="en-IN" sz="2400" b="1" dirty="0">
                <a:solidFill>
                  <a:srgbClr val="002060"/>
                </a:solidFill>
                <a:sym typeface="+mn-ea"/>
              </a:rPr>
              <a:t> Rao BP       1RR23AI040</a:t>
            </a:r>
            <a:endParaRPr lang="en-IN" sz="2400" b="1" dirty="0">
              <a:solidFill>
                <a:srgbClr val="002060"/>
              </a:solidFill>
            </a:endParaRPr>
          </a:p>
          <a:p>
            <a:pPr algn="ctr"/>
            <a:r>
              <a:rPr lang="en-IN" sz="2400" b="1" dirty="0">
                <a:solidFill>
                  <a:srgbClr val="002060"/>
                </a:solidFill>
                <a:sym typeface="+mn-ea"/>
              </a:rPr>
              <a:t>Priyanka S </a:t>
            </a:r>
            <a:r>
              <a:rPr lang="en-IN" sz="2400" b="1" dirty="0" err="1">
                <a:solidFill>
                  <a:srgbClr val="002060"/>
                </a:solidFill>
                <a:sym typeface="+mn-ea"/>
              </a:rPr>
              <a:t>Ganig</a:t>
            </a:r>
            <a:r>
              <a:rPr lang="en-IN" sz="2400" b="1" dirty="0">
                <a:solidFill>
                  <a:srgbClr val="002060"/>
                </a:solidFill>
                <a:sym typeface="+mn-ea"/>
              </a:rPr>
              <a:t>    1RR23AI042</a:t>
            </a:r>
            <a:endParaRPr lang="en-IN" sz="2400" b="1" dirty="0">
              <a:solidFill>
                <a:srgbClr val="002060"/>
              </a:solidFill>
            </a:endParaRPr>
          </a:p>
          <a:p>
            <a:pPr algn="ctr"/>
            <a:r>
              <a:rPr lang="en-IN" sz="2400" b="1" dirty="0">
                <a:solidFill>
                  <a:srgbClr val="002060"/>
                </a:solidFill>
                <a:sym typeface="+mn-ea"/>
              </a:rPr>
              <a:t>Santhosh M             1RR23AI052</a:t>
            </a:r>
            <a:endParaRPr lang="en-IN" sz="2400" b="1" dirty="0">
              <a:solidFill>
                <a:srgbClr val="002060"/>
              </a:solidFill>
            </a:endParaRPr>
          </a:p>
          <a:p>
            <a:pPr algn="ctr"/>
            <a:r>
              <a:rPr lang="en-IN" sz="2400" b="1" dirty="0">
                <a:solidFill>
                  <a:srgbClr val="002060"/>
                </a:solidFill>
                <a:sym typeface="+mn-ea"/>
              </a:rPr>
              <a:t>Shravan M                1RR23AI054</a:t>
            </a:r>
            <a:endParaRPr lang="en-IN" sz="2400" b="1" dirty="0">
              <a:solidFill>
                <a:srgbClr val="002060"/>
              </a:solidFill>
            </a:endParaRPr>
          </a:p>
        </p:txBody>
      </p:sp>
      <p:sp>
        <p:nvSpPr>
          <p:cNvPr id="7" name="TextBox 6"/>
          <p:cNvSpPr txBox="1"/>
          <p:nvPr/>
        </p:nvSpPr>
        <p:spPr>
          <a:xfrm>
            <a:off x="7784465" y="4919980"/>
            <a:ext cx="4147794" cy="1938020"/>
          </a:xfrm>
          <a:prstGeom prst="rect">
            <a:avLst/>
          </a:prstGeom>
          <a:noFill/>
        </p:spPr>
        <p:txBody>
          <a:bodyPr wrap="square" rtlCol="0">
            <a:spAutoFit/>
          </a:bodyPr>
          <a:lstStyle/>
          <a:p>
            <a:pPr algn="ctr"/>
            <a:r>
              <a:rPr lang="en-IN" sz="2400" b="1" dirty="0">
                <a:solidFill>
                  <a:srgbClr val="002060"/>
                </a:solidFill>
              </a:rPr>
              <a:t>Under the guidance of</a:t>
            </a:r>
          </a:p>
          <a:p>
            <a:pPr algn="ctr"/>
            <a:r>
              <a:rPr lang="en-IN" sz="2400" b="1" dirty="0" err="1">
                <a:solidFill>
                  <a:srgbClr val="002060"/>
                </a:solidFill>
                <a:sym typeface="+mn-ea"/>
              </a:rPr>
              <a:t>Prof.</a:t>
            </a:r>
            <a:r>
              <a:rPr lang="en-IN" sz="2400" b="1" dirty="0">
                <a:solidFill>
                  <a:srgbClr val="002060"/>
                </a:solidFill>
                <a:sym typeface="+mn-ea"/>
              </a:rPr>
              <a:t> </a:t>
            </a:r>
            <a:r>
              <a:rPr lang="en-IN" sz="2400" b="1" dirty="0" err="1">
                <a:solidFill>
                  <a:srgbClr val="002060"/>
                </a:solidFill>
                <a:sym typeface="+mn-ea"/>
              </a:rPr>
              <a:t>Deepa</a:t>
            </a:r>
            <a:r>
              <a:rPr lang="en-IN" sz="2400" b="1" dirty="0">
                <a:solidFill>
                  <a:srgbClr val="002060"/>
                </a:solidFill>
                <a:sym typeface="+mn-ea"/>
              </a:rPr>
              <a:t> K R</a:t>
            </a:r>
            <a:endParaRPr lang="en-IN" sz="2400" b="1" dirty="0">
              <a:solidFill>
                <a:srgbClr val="002060"/>
              </a:solidFill>
            </a:endParaRPr>
          </a:p>
          <a:p>
            <a:pPr algn="ctr"/>
            <a:r>
              <a:rPr lang="en-IN" sz="2400" b="1" dirty="0">
                <a:solidFill>
                  <a:srgbClr val="002060"/>
                </a:solidFill>
                <a:sym typeface="+mn-ea"/>
              </a:rPr>
              <a:t>Asst. Professor</a:t>
            </a:r>
            <a:endParaRPr lang="en-IN" sz="2400" b="1" dirty="0">
              <a:solidFill>
                <a:srgbClr val="002060"/>
              </a:solidFill>
            </a:endParaRPr>
          </a:p>
          <a:p>
            <a:pPr algn="ctr"/>
            <a:r>
              <a:rPr lang="en-IN" sz="2400" b="1" dirty="0">
                <a:solidFill>
                  <a:srgbClr val="002060"/>
                </a:solidFill>
                <a:sym typeface="+mn-ea"/>
              </a:rPr>
              <a:t>AI&amp;ML</a:t>
            </a:r>
            <a:endParaRPr lang="en-IN" sz="2400" b="1" dirty="0">
              <a:solidFill>
                <a:srgbClr val="002060"/>
              </a:solidFill>
            </a:endParaRPr>
          </a:p>
          <a:p>
            <a:pPr algn="ctr"/>
            <a:endParaRPr lang="en-IN" sz="2400" b="1" dirty="0">
              <a:solidFill>
                <a:srgbClr val="002060"/>
              </a:solidFill>
            </a:endParaRPr>
          </a:p>
        </p:txBody>
      </p:sp>
      <p:pic>
        <p:nvPicPr>
          <p:cNvPr id="100" name="Picture 99"/>
          <p:cNvPicPr/>
          <p:nvPr/>
        </p:nvPicPr>
        <p:blipFill>
          <a:blip r:embed="rId2"/>
          <a:stretch>
            <a:fillRect/>
          </a:stretch>
        </p:blipFill>
        <p:spPr>
          <a:xfrm>
            <a:off x="5185410" y="1953260"/>
            <a:ext cx="1821180" cy="1550035"/>
          </a:xfrm>
          <a:prstGeom prst="rect">
            <a:avLst/>
          </a:prstGeom>
          <a:noFill/>
          <a:ln w="9525">
            <a:noFill/>
          </a:ln>
        </p:spPr>
      </p:pic>
      <p:sp>
        <p:nvSpPr>
          <p:cNvPr id="4" name="TextBox 7"/>
          <p:cNvSpPr txBox="1"/>
          <p:nvPr/>
        </p:nvSpPr>
        <p:spPr>
          <a:xfrm>
            <a:off x="1" y="0"/>
            <a:ext cx="12191999" cy="583565"/>
          </a:xfrm>
          <a:prstGeom prst="rect">
            <a:avLst/>
          </a:prstGeom>
          <a:solidFill>
            <a:schemeClr val="accent2">
              <a:lumMod val="20000"/>
              <a:lumOff val="80000"/>
            </a:schemeClr>
          </a:solidFill>
        </p:spPr>
        <p:txBody>
          <a:bodyPr wrap="square" rtlCol="0">
            <a:spAutoFit/>
          </a:bodyPr>
          <a:lstStyle/>
          <a:p>
            <a:pPr algn="ctr"/>
            <a:r>
              <a:rPr lang="en-IN" sz="3200" b="1" dirty="0">
                <a:solidFill>
                  <a:srgbClr val="002060"/>
                </a:solidFill>
              </a:rPr>
              <a:t>Department of </a:t>
            </a:r>
            <a:r>
              <a:rPr lang="en-US" altLang="en-IN" sz="3200" b="1" dirty="0">
                <a:solidFill>
                  <a:srgbClr val="002060"/>
                </a:solidFill>
              </a:rPr>
              <a:t>Artificial Intelligence and Machine Learning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35"/>
            <a:ext cx="10530205" cy="1040765"/>
          </a:xfrm>
          <a:solidFill>
            <a:srgbClr val="002060"/>
          </a:solidFill>
        </p:spPr>
        <p:txBody>
          <a:bodyPr>
            <a:normAutofit/>
          </a:bodyPr>
          <a:lstStyle/>
          <a:p>
            <a:r>
              <a:rPr lang="en-US" altLang="en-IN" b="1" dirty="0" smtClean="0">
                <a:ln>
                  <a:solidFill>
                    <a:schemeClr val="bg1"/>
                  </a:solidFill>
                </a:ln>
                <a:solidFill>
                  <a:schemeClr val="bg1"/>
                </a:solidFill>
                <a:latin typeface="Times New Roman" panose="02020603050405020304" pitchFamily="18" charset="0"/>
                <a:cs typeface="Times New Roman" panose="02020603050405020304" pitchFamily="18" charset="0"/>
              </a:rPr>
              <a:t>Introduction</a:t>
            </a:r>
            <a:endParaRPr lang="en-US" altLang="en-IN" b="1"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Dept. of </a:t>
            </a:r>
            <a:r>
              <a:rPr lang="en-US" altLang="en-IN" dirty="0">
                <a:ln>
                  <a:solidFill>
                    <a:schemeClr val="bg1"/>
                  </a:solidFill>
                </a:ln>
                <a:solidFill>
                  <a:schemeClr val="bg1"/>
                </a:solidFill>
              </a:rPr>
              <a:t>AI&amp;ML, RRCE</a:t>
            </a:r>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pPr/>
              <a:t>2</a:t>
            </a:fld>
            <a:endParaRPr lang="en-IN" dirty="0">
              <a:ln>
                <a:solidFill>
                  <a:schemeClr val="bg1"/>
                </a:solidFill>
              </a:ln>
              <a:solidFill>
                <a:schemeClr val="bg1"/>
              </a:solidFill>
            </a:endParaRPr>
          </a:p>
        </p:txBody>
      </p:sp>
      <p:pic>
        <p:nvPicPr>
          <p:cNvPr id="101" name="Content Placeholder 100"/>
          <p:cNvPicPr>
            <a:picLocks noGrp="1" noChangeAspect="1"/>
          </p:cNvPicPr>
          <p:nvPr>
            <p:ph sz="half" idx="2"/>
          </p:nvPr>
        </p:nvPicPr>
        <p:blipFill>
          <a:blip r:embed="rId2"/>
          <a:stretch>
            <a:fillRect/>
          </a:stretch>
        </p:blipFill>
        <p:spPr>
          <a:xfrm>
            <a:off x="10631805" y="-635"/>
            <a:ext cx="1437640" cy="1156335"/>
          </a:xfrm>
          <a:prstGeom prst="rect">
            <a:avLst/>
          </a:prstGeom>
          <a:noFill/>
          <a:ln w="9525">
            <a:noFill/>
          </a:ln>
        </p:spPr>
      </p:pic>
      <p:sp>
        <p:nvSpPr>
          <p:cNvPr id="4" name="Rectangle 1">
            <a:extLst>
              <a:ext uri="{FF2B5EF4-FFF2-40B4-BE49-F238E27FC236}">
                <a16:creationId xmlns:a16="http://schemas.microsoft.com/office/drawing/2014/main" id="{001EF6B3-4CC1-2CB6-D98B-C7991233B7A2}"/>
              </a:ext>
            </a:extLst>
          </p:cNvPr>
          <p:cNvSpPr>
            <a:spLocks noGrp="1" noChangeArrowheads="1"/>
          </p:cNvSpPr>
          <p:nvPr>
            <p:ph sz="half" idx="1"/>
          </p:nvPr>
        </p:nvSpPr>
        <p:spPr bwMode="auto">
          <a:xfrm>
            <a:off x="471132" y="1660600"/>
            <a:ext cx="10160674" cy="3795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dirty="0" smtClean="0">
                <a:latin typeface="Times New Roman" pitchFamily="18" charset="0"/>
                <a:cs typeface="Times New Roman" pitchFamily="18" charset="0"/>
              </a:rPr>
              <a:t>Machine Learning (ML) applications are widely used in real-world systems such as healthcare, agriculture, and finance. However, deploying and managing ML models efficiently is a major challenge due to the complexity of infrastructure, scalability issues, and resource allocation.</a:t>
            </a:r>
          </a:p>
          <a:p>
            <a:pPr algn="just">
              <a:lnSpc>
                <a:spcPct val="150000"/>
              </a:lnSpc>
            </a:pPr>
            <a:r>
              <a:rPr lang="en-US" sz="1400" dirty="0" err="1" smtClean="0">
                <a:latin typeface="Times New Roman" pitchFamily="18" charset="0"/>
                <a:cs typeface="Times New Roman" pitchFamily="18" charset="0"/>
              </a:rPr>
              <a:t>MLOps</a:t>
            </a:r>
            <a:r>
              <a:rPr lang="en-US" sz="1400" dirty="0" smtClean="0">
                <a:latin typeface="Times New Roman" pitchFamily="18" charset="0"/>
                <a:cs typeface="Times New Roman" pitchFamily="18" charset="0"/>
              </a:rPr>
              <a:t> (Machine Learning Operations) is an emerging field that combines ML with </a:t>
            </a:r>
            <a:r>
              <a:rPr lang="en-US" sz="1400" dirty="0" err="1" smtClean="0">
                <a:latin typeface="Times New Roman" pitchFamily="18" charset="0"/>
                <a:cs typeface="Times New Roman" pitchFamily="18" charset="0"/>
              </a:rPr>
              <a:t>DevOps</a:t>
            </a:r>
            <a:r>
              <a:rPr lang="en-US" sz="1400" dirty="0" smtClean="0">
                <a:latin typeface="Times New Roman" pitchFamily="18" charset="0"/>
                <a:cs typeface="Times New Roman" pitchFamily="18" charset="0"/>
              </a:rPr>
              <a:t> practices to automate model development, deployment, and monitoring. In modern systems, organizations often use multiple cloud platforms such as AWS and Azure to improve performance and reduce cost. However, managing ML workflows across multiple clouds introduces additional challenges like resource selection, deployment complexity, and monitoring difficulties.</a:t>
            </a:r>
          </a:p>
          <a:p>
            <a:pPr algn="just">
              <a:lnSpc>
                <a:spcPct val="150000"/>
              </a:lnSpc>
            </a:pPr>
            <a:r>
              <a:rPr lang="en-US" sz="1400" dirty="0" smtClean="0">
                <a:latin typeface="Times New Roman" pitchFamily="18" charset="0"/>
                <a:cs typeface="Times New Roman" pitchFamily="18" charset="0"/>
              </a:rPr>
              <a:t>This project proposes a </a:t>
            </a:r>
            <a:r>
              <a:rPr lang="en-US" sz="1400" b="1" dirty="0" smtClean="0">
                <a:latin typeface="Times New Roman" pitchFamily="18" charset="0"/>
                <a:cs typeface="Times New Roman" pitchFamily="18" charset="0"/>
              </a:rPr>
              <a:t>policy-based framework for optimizing </a:t>
            </a:r>
            <a:r>
              <a:rPr lang="en-US" sz="1400" b="1" dirty="0" err="1" smtClean="0">
                <a:latin typeface="Times New Roman" pitchFamily="18" charset="0"/>
                <a:cs typeface="Times New Roman" pitchFamily="18" charset="0"/>
              </a:rPr>
              <a:t>MLOps</a:t>
            </a:r>
            <a:r>
              <a:rPr lang="en-US" sz="1400" b="1" dirty="0" smtClean="0">
                <a:latin typeface="Times New Roman" pitchFamily="18" charset="0"/>
                <a:cs typeface="Times New Roman" pitchFamily="18" charset="0"/>
              </a:rPr>
              <a:t> in a multi-cloud environment</a:t>
            </a:r>
            <a:r>
              <a:rPr lang="en-US" sz="1400" dirty="0" smtClean="0">
                <a:latin typeface="Times New Roman" pitchFamily="18" charset="0"/>
                <a:cs typeface="Times New Roman" pitchFamily="18" charset="0"/>
              </a:rPr>
              <a:t>. The system automates deployment decisions based on predefined policies, efficiently allocates resources, and provides visualization of system topology for better monitoring and control</a:t>
            </a:r>
          </a:p>
          <a:p>
            <a:pPr marR="0" lvl="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nvSpPr>
        <p:spPr>
          <a:xfrm>
            <a:off x="0" y="-635"/>
            <a:ext cx="10530205" cy="1015365"/>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ln>
                  <a:solidFill>
                    <a:schemeClr val="bg1"/>
                  </a:solidFill>
                </a:ln>
                <a:solidFill>
                  <a:schemeClr val="bg1"/>
                </a:solidFill>
                <a:latin typeface="Times New Roman" panose="02020603050405020304" pitchFamily="18" charset="0"/>
                <a:cs typeface="Times New Roman" panose="02020603050405020304" pitchFamily="18" charset="0"/>
              </a:rPr>
              <a:t>Objectives and Scope</a:t>
            </a:r>
            <a:endParaRPr lang="en-IN" b="1"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sz="half" idx="1"/>
          </p:nvPr>
        </p:nvSpPr>
        <p:spPr>
          <a:xfrm>
            <a:off x="534481" y="1630045"/>
            <a:ext cx="9461241" cy="4795520"/>
          </a:xfrm>
        </p:spPr>
        <p:txBody>
          <a:bodyPr>
            <a:normAutofit/>
          </a:bodyPr>
          <a:lstStyle/>
          <a:p>
            <a:pPr algn="just">
              <a:buNone/>
            </a:pPr>
            <a:r>
              <a:rPr lang="en-US" sz="1600" b="1" dirty="0" smtClean="0">
                <a:latin typeface="Times New Roman" pitchFamily="18" charset="0"/>
                <a:cs typeface="Times New Roman" pitchFamily="18" charset="0"/>
              </a:rPr>
              <a:t>Objectives:</a:t>
            </a:r>
          </a:p>
          <a:p>
            <a:pPr algn="just"/>
            <a:r>
              <a:rPr lang="en-US" sz="1600" dirty="0" smtClean="0">
                <a:latin typeface="Times New Roman" pitchFamily="18" charset="0"/>
                <a:cs typeface="Times New Roman" pitchFamily="18" charset="0"/>
              </a:rPr>
              <a:t>To design a policy-based</a:t>
            </a: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system for ML model deployment </a:t>
            </a:r>
          </a:p>
          <a:p>
            <a:pPr algn="just"/>
            <a:r>
              <a:rPr lang="en-US" sz="1600" dirty="0" smtClean="0">
                <a:latin typeface="Times New Roman" pitchFamily="18" charset="0"/>
                <a:cs typeface="Times New Roman" pitchFamily="18" charset="0"/>
              </a:rPr>
              <a:t>To optimize resource allocation across multiple cloud platforms </a:t>
            </a:r>
          </a:p>
          <a:p>
            <a:pPr algn="just"/>
            <a:r>
              <a:rPr lang="en-US" sz="1600" dirty="0" smtClean="0">
                <a:latin typeface="Times New Roman" pitchFamily="18" charset="0"/>
                <a:cs typeface="Times New Roman" pitchFamily="18" charset="0"/>
              </a:rPr>
              <a:t>To simplify </a:t>
            </a:r>
            <a:r>
              <a:rPr lang="en-US" sz="1600" dirty="0" err="1" smtClean="0">
                <a:latin typeface="Times New Roman" pitchFamily="18" charset="0"/>
                <a:cs typeface="Times New Roman" pitchFamily="18" charset="0"/>
              </a:rPr>
              <a:t>MLOps</a:t>
            </a: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workflows </a:t>
            </a:r>
          </a:p>
          <a:p>
            <a:pPr algn="just"/>
            <a:r>
              <a:rPr lang="en-US" sz="1600" dirty="0" smtClean="0">
                <a:latin typeface="Times New Roman" pitchFamily="18" charset="0"/>
                <a:cs typeface="Times New Roman" pitchFamily="18" charset="0"/>
              </a:rPr>
              <a:t>To develop a system for real-time</a:t>
            </a: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monitoring</a:t>
            </a: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and</a:t>
            </a: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visualization </a:t>
            </a:r>
          </a:p>
          <a:p>
            <a:pPr algn="just"/>
            <a:r>
              <a:rPr lang="en-US" sz="1600" dirty="0" smtClean="0">
                <a:latin typeface="Times New Roman" pitchFamily="18" charset="0"/>
                <a:cs typeface="Times New Roman" pitchFamily="18" charset="0"/>
              </a:rPr>
              <a:t>To improve scalability and performance of ML systems</a:t>
            </a:r>
          </a:p>
          <a:p>
            <a:pPr marL="0" indent="0" algn="just">
              <a:lnSpc>
                <a:spcPct val="150000"/>
              </a:lnSpc>
              <a:buNone/>
            </a:pPr>
            <a:endParaRPr lang="en-IN" sz="1600" dirty="0" smtClean="0">
              <a:latin typeface="Times New Roman" pitchFamily="18" charset="0"/>
              <a:cs typeface="Times New Roman" pitchFamily="18" charset="0"/>
            </a:endParaRPr>
          </a:p>
          <a:p>
            <a:pPr algn="just">
              <a:buNone/>
            </a:pPr>
            <a:r>
              <a:rPr lang="en-US" sz="1600" b="1" dirty="0" smtClean="0">
                <a:latin typeface="Times New Roman" pitchFamily="18" charset="0"/>
                <a:cs typeface="Times New Roman" pitchFamily="18" charset="0"/>
              </a:rPr>
              <a:t>Scope:</a:t>
            </a:r>
          </a:p>
          <a:p>
            <a:pPr algn="just"/>
            <a:r>
              <a:rPr lang="en-US" sz="1600" dirty="0" smtClean="0">
                <a:latin typeface="Times New Roman" pitchFamily="18" charset="0"/>
                <a:cs typeface="Times New Roman" pitchFamily="18" charset="0"/>
              </a:rPr>
              <a:t>Applicable in industries using ML systems </a:t>
            </a:r>
          </a:p>
          <a:p>
            <a:pPr algn="just"/>
            <a:r>
              <a:rPr lang="en-US" sz="1600" dirty="0" smtClean="0">
                <a:latin typeface="Times New Roman" pitchFamily="18" charset="0"/>
                <a:cs typeface="Times New Roman" pitchFamily="18" charset="0"/>
              </a:rPr>
              <a:t>Can be used in healthcare, agriculture, finance, etc. </a:t>
            </a:r>
          </a:p>
          <a:p>
            <a:pPr algn="just"/>
            <a:r>
              <a:rPr lang="en-US" sz="1600" dirty="0" smtClean="0">
                <a:latin typeface="Times New Roman" pitchFamily="18" charset="0"/>
                <a:cs typeface="Times New Roman" pitchFamily="18" charset="0"/>
              </a:rPr>
              <a:t>Supports multi-cloud platforms (AWS, Azure, etc.) </a:t>
            </a:r>
          </a:p>
          <a:p>
            <a:pPr algn="just"/>
            <a:r>
              <a:rPr lang="en-US" sz="1600" dirty="0" smtClean="0">
                <a:latin typeface="Times New Roman" pitchFamily="18" charset="0"/>
                <a:cs typeface="Times New Roman" pitchFamily="18" charset="0"/>
              </a:rPr>
              <a:t>Can be extended for large-scale enterprise applications</a:t>
            </a:r>
          </a:p>
          <a:p>
            <a:pPr marL="0" indent="0">
              <a:lnSpc>
                <a:spcPct val="150000"/>
              </a:lnSpc>
              <a:buNone/>
            </a:pPr>
            <a:endParaRPr lang="en-IN" sz="1400" dirty="0">
              <a:latin typeface="Times New Roman" pitchFamily="18" charset="0"/>
              <a:cs typeface="Times New Roman" pitchFamily="18" charset="0"/>
            </a:endParaRPr>
          </a:p>
        </p:txBody>
      </p:sp>
      <p:sp>
        <p:nvSpPr>
          <p:cNvPr id="10" name="TextBox 6"/>
          <p:cNvSpPr txBox="1"/>
          <p:nvPr/>
        </p:nvSpPr>
        <p:spPr>
          <a:xfrm>
            <a:off x="0" y="6538595"/>
            <a:ext cx="12192000" cy="359410"/>
          </a:xfrm>
          <a:prstGeom prst="rect">
            <a:avLst/>
          </a:prstGeom>
          <a:solidFill>
            <a:srgbClr val="002060"/>
          </a:solidFill>
        </p:spPr>
        <p:txBody>
          <a:bodyPr wrap="square" rtlCol="0">
            <a:noAutofit/>
          </a:bodyPr>
          <a:lstStyle/>
          <a:p>
            <a:r>
              <a:rPr lang="en-IN" dirty="0">
                <a:ln>
                  <a:solidFill>
                    <a:schemeClr val="bg1"/>
                  </a:solidFill>
                </a:ln>
                <a:solidFill>
                  <a:schemeClr val="bg1"/>
                </a:solidFill>
              </a:rPr>
              <a:t>Dept. of </a:t>
            </a:r>
            <a:r>
              <a:rPr lang="en-US" altLang="en-IN" dirty="0">
                <a:ln>
                  <a:solidFill>
                    <a:schemeClr val="bg1"/>
                  </a:solidFill>
                </a:ln>
                <a:solidFill>
                  <a:schemeClr val="bg1"/>
                </a:solidFill>
              </a:rPr>
              <a:t>AI&amp;ML, RRCE</a:t>
            </a:r>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pPr/>
              <a:t>3</a:t>
            </a:fld>
            <a:endParaRPr lang="en-IN" dirty="0">
              <a:ln>
                <a:solidFill>
                  <a:schemeClr val="bg1"/>
                </a:solidFill>
              </a:ln>
              <a:solidFill>
                <a:schemeClr val="bg1"/>
              </a:solidFill>
            </a:endParaRPr>
          </a:p>
        </p:txBody>
      </p:sp>
      <p:pic>
        <p:nvPicPr>
          <p:cNvPr id="101" name="Content Placeholder 100"/>
          <p:cNvPicPr>
            <a:picLocks noGrp="1" noChangeAspect="1"/>
          </p:cNvPicPr>
          <p:nvPr>
            <p:ph sz="half" idx="2"/>
          </p:nvPr>
        </p:nvPicPr>
        <p:blipFill>
          <a:blip r:embed="rId2"/>
          <a:stretch>
            <a:fillRect/>
          </a:stretch>
        </p:blipFill>
        <p:spPr>
          <a:xfrm>
            <a:off x="10631805" y="-635"/>
            <a:ext cx="1437640" cy="112839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0" y="-635"/>
            <a:ext cx="10530205" cy="1040765"/>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IN" b="1" dirty="0" smtClean="0">
                <a:ln>
                  <a:solidFill>
                    <a:schemeClr val="bg1"/>
                  </a:solidFill>
                </a:ln>
                <a:solidFill>
                  <a:schemeClr val="bg1"/>
                </a:solidFill>
                <a:latin typeface="Times New Roman" panose="02020603050405020304" pitchFamily="18" charset="0"/>
                <a:cs typeface="Times New Roman" panose="02020603050405020304" pitchFamily="18" charset="0"/>
              </a:rPr>
              <a:t>Literature Review</a:t>
            </a:r>
            <a:endParaRPr lang="en-US" altLang="en-IN" b="1"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sp>
        <p:nvSpPr>
          <p:cNvPr id="8" name="TextBox 6"/>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Dept. of </a:t>
            </a:r>
            <a:r>
              <a:rPr lang="en-US" altLang="en-IN" dirty="0">
                <a:ln>
                  <a:solidFill>
                    <a:schemeClr val="bg1"/>
                  </a:solidFill>
                </a:ln>
                <a:solidFill>
                  <a:schemeClr val="bg1"/>
                </a:solidFill>
              </a:rPr>
              <a:t>AI&amp;ML, RRCE</a:t>
            </a:r>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pPr/>
              <a:t>4</a:t>
            </a:fld>
            <a:endParaRPr lang="en-IN" dirty="0">
              <a:ln>
                <a:solidFill>
                  <a:schemeClr val="bg1"/>
                </a:solidFill>
              </a:ln>
              <a:solidFill>
                <a:schemeClr val="bg1"/>
              </a:solidFill>
            </a:endParaRPr>
          </a:p>
        </p:txBody>
      </p:sp>
      <p:pic>
        <p:nvPicPr>
          <p:cNvPr id="101" name="Content Placeholder 100"/>
          <p:cNvPicPr>
            <a:picLocks noGrp="1" noChangeAspect="1"/>
          </p:cNvPicPr>
          <p:nvPr>
            <p:ph sz="half" idx="2"/>
          </p:nvPr>
        </p:nvPicPr>
        <p:blipFill>
          <a:blip r:embed="rId2"/>
          <a:stretch>
            <a:fillRect/>
          </a:stretch>
        </p:blipFill>
        <p:spPr>
          <a:xfrm>
            <a:off x="10631805" y="-635"/>
            <a:ext cx="1437640" cy="1156335"/>
          </a:xfrm>
          <a:prstGeom prst="rect">
            <a:avLst/>
          </a:prstGeom>
          <a:noFill/>
          <a:ln w="9525">
            <a:noFill/>
          </a:ln>
        </p:spPr>
      </p:pic>
      <p:graphicFrame>
        <p:nvGraphicFramePr>
          <p:cNvPr id="7" name="Content Placeholder 6"/>
          <p:cNvGraphicFramePr>
            <a:graphicFrameLocks noGrp="1"/>
          </p:cNvGraphicFramePr>
          <p:nvPr>
            <p:ph sz="half" idx="1"/>
            <p:extLst>
              <p:ext uri="{D42A27DB-BD31-4B8C-83A1-F6EECF244321}">
                <p14:modId xmlns:p14="http://schemas.microsoft.com/office/powerpoint/2010/main" val="4113185170"/>
              </p:ext>
            </p:extLst>
          </p:nvPr>
        </p:nvGraphicFramePr>
        <p:xfrm>
          <a:off x="258793" y="1153990"/>
          <a:ext cx="10895162" cy="5271062"/>
        </p:xfrm>
        <a:graphic>
          <a:graphicData uri="http://schemas.openxmlformats.org/drawingml/2006/table">
            <a:tbl>
              <a:tblPr firstRow="1" bandRow="1">
                <a:tableStyleId>{5C22544A-7EE6-4342-B048-85BDC9FD1C3A}</a:tableStyleId>
              </a:tblPr>
              <a:tblGrid>
                <a:gridCol w="883622">
                  <a:extLst>
                    <a:ext uri="{9D8B030D-6E8A-4147-A177-3AD203B41FA5}">
                      <a16:colId xmlns:a16="http://schemas.microsoft.com/office/drawing/2014/main" val="20000"/>
                    </a:ext>
                  </a:extLst>
                </a:gridCol>
                <a:gridCol w="2438088">
                  <a:extLst>
                    <a:ext uri="{9D8B030D-6E8A-4147-A177-3AD203B41FA5}">
                      <a16:colId xmlns:a16="http://schemas.microsoft.com/office/drawing/2014/main" val="20001"/>
                    </a:ext>
                  </a:extLst>
                </a:gridCol>
                <a:gridCol w="2089475">
                  <a:extLst>
                    <a:ext uri="{9D8B030D-6E8A-4147-A177-3AD203B41FA5}">
                      <a16:colId xmlns:a16="http://schemas.microsoft.com/office/drawing/2014/main" val="20002"/>
                    </a:ext>
                  </a:extLst>
                </a:gridCol>
                <a:gridCol w="1852257">
                  <a:extLst>
                    <a:ext uri="{9D8B030D-6E8A-4147-A177-3AD203B41FA5}">
                      <a16:colId xmlns:a16="http://schemas.microsoft.com/office/drawing/2014/main" val="20003"/>
                    </a:ext>
                  </a:extLst>
                </a:gridCol>
                <a:gridCol w="1815860">
                  <a:extLst>
                    <a:ext uri="{9D8B030D-6E8A-4147-A177-3AD203B41FA5}">
                      <a16:colId xmlns:a16="http://schemas.microsoft.com/office/drawing/2014/main" val="20004"/>
                    </a:ext>
                  </a:extLst>
                </a:gridCol>
                <a:gridCol w="1815860">
                  <a:extLst>
                    <a:ext uri="{9D8B030D-6E8A-4147-A177-3AD203B41FA5}">
                      <a16:colId xmlns:a16="http://schemas.microsoft.com/office/drawing/2014/main" val="20005"/>
                    </a:ext>
                  </a:extLst>
                </a:gridCol>
              </a:tblGrid>
              <a:tr h="580060">
                <a:tc>
                  <a:txBody>
                    <a:bodyPr/>
                    <a:lstStyle/>
                    <a:p>
                      <a:r>
                        <a:rPr lang="en-US" dirty="0" err="1" smtClean="0">
                          <a:latin typeface="Times New Roman" pitchFamily="18" charset="0"/>
                          <a:cs typeface="Times New Roman" pitchFamily="18" charset="0"/>
                        </a:rPr>
                        <a:t>SL.no</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TITLE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Author(s) &amp;</a:t>
                      </a:r>
                    </a:p>
                    <a:p>
                      <a:r>
                        <a:rPr lang="en-US" dirty="0" smtClean="0">
                          <a:latin typeface="Times New Roman" pitchFamily="18" charset="0"/>
                          <a:cs typeface="Times New Roman" pitchFamily="18" charset="0"/>
                        </a:rPr>
                        <a:t>        Year</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Proposed </a:t>
                      </a:r>
                    </a:p>
                    <a:p>
                      <a:r>
                        <a:rPr lang="en-US" dirty="0" smtClean="0">
                          <a:latin typeface="Times New Roman" pitchFamily="18" charset="0"/>
                          <a:cs typeface="Times New Roman" pitchFamily="18" charset="0"/>
                        </a:rPr>
                        <a:t>     System</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Advantages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Disadvantages</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1436338">
                <a:tc>
                  <a:txBody>
                    <a:bodyPr/>
                    <a:lstStyle/>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1.</a:t>
                      </a:r>
                      <a:endParaRPr lang="en-US" sz="1600" dirty="0">
                        <a:latin typeface="Times New Roman" pitchFamily="18" charset="0"/>
                        <a:cs typeface="Times New Roman" pitchFamily="18" charset="0"/>
                      </a:endParaRPr>
                    </a:p>
                  </a:txBody>
                  <a:tcPr/>
                </a:tc>
                <a:tc>
                  <a:txBody>
                    <a:bodyPr/>
                    <a:lstStyle/>
                    <a:p>
                      <a:r>
                        <a:rPr lang="en-US" sz="1400" kern="1200" dirty="0" smtClean="0">
                          <a:solidFill>
                            <a:schemeClr val="dk1"/>
                          </a:solidFill>
                          <a:latin typeface="Times New Roman" pitchFamily="18" charset="0"/>
                          <a:ea typeface="+mn-ea"/>
                          <a:cs typeface="Times New Roman" pitchFamily="18" charset="0"/>
                        </a:rPr>
                        <a:t>Heuristic-based Resource Allocation for Cloud-native Machine Learning Workloads</a:t>
                      </a:r>
                      <a:endParaRPr lang="en-US" sz="1400" dirty="0">
                        <a:latin typeface="Times New Roman" pitchFamily="18" charset="0"/>
                        <a:cs typeface="Times New Roman" pitchFamily="18" charset="0"/>
                      </a:endParaRPr>
                    </a:p>
                  </a:txBody>
                  <a:tcPr/>
                </a:tc>
                <a:tc>
                  <a:txBody>
                    <a:bodyPr/>
                    <a:lstStyle/>
                    <a:p>
                      <a:pPr marL="0" marR="0" algn="just">
                        <a:lnSpc>
                          <a:spcPct val="150000"/>
                        </a:lnSpc>
                        <a:spcBef>
                          <a:spcPts val="0"/>
                        </a:spcBef>
                        <a:spcAft>
                          <a:spcPts val="0"/>
                        </a:spcAft>
                      </a:pPr>
                      <a:r>
                        <a:rPr lang="en-US" sz="1400" dirty="0" err="1" smtClean="0">
                          <a:latin typeface="Times New Roman"/>
                          <a:ea typeface="Times New Roman"/>
                        </a:rPr>
                        <a:t>Ayush</a:t>
                      </a:r>
                      <a:r>
                        <a:rPr lang="en-US" sz="1400" dirty="0" smtClean="0">
                          <a:latin typeface="Times New Roman"/>
                          <a:ea typeface="Times New Roman"/>
                        </a:rPr>
                        <a:t> </a:t>
                      </a:r>
                      <a:r>
                        <a:rPr lang="en-US" sz="1400" dirty="0" err="1">
                          <a:latin typeface="Times New Roman"/>
                          <a:ea typeface="Times New Roman"/>
                        </a:rPr>
                        <a:t>Shridhar</a:t>
                      </a:r>
                      <a:r>
                        <a:rPr lang="en-US" sz="1400" dirty="0">
                          <a:latin typeface="Times New Roman"/>
                          <a:ea typeface="Times New Roman"/>
                        </a:rPr>
                        <a:t> and Deepak </a:t>
                      </a:r>
                      <a:r>
                        <a:rPr lang="en-US" sz="1400" dirty="0" err="1">
                          <a:latin typeface="Times New Roman"/>
                          <a:ea typeface="Times New Roman"/>
                        </a:rPr>
                        <a:t>Nadig</a:t>
                      </a:r>
                      <a:endParaRPr lang="en-US" sz="1400" dirty="0">
                        <a:latin typeface="Times New Roman"/>
                        <a:ea typeface="Times New Roman"/>
                      </a:endParaRPr>
                    </a:p>
                  </a:txBody>
                  <a:tcPr marL="68580" marR="68580" marT="0" marB="0"/>
                </a:tc>
                <a:tc>
                  <a:txBody>
                    <a:bodyPr/>
                    <a:lstStyle/>
                    <a:p>
                      <a:r>
                        <a:rPr lang="en-GB" sz="1400" dirty="0" smtClean="0">
                          <a:latin typeface="Times New Roman" pitchFamily="18" charset="0"/>
                          <a:cs typeface="Times New Roman" pitchFamily="18" charset="0"/>
                        </a:rPr>
                        <a:t>Heuristic-based optimization partitions machine learning models to minimize cloud-native latency and resource wastage.</a:t>
                      </a:r>
                      <a:endParaRPr lang="en-US" sz="1400" dirty="0">
                        <a:latin typeface="Times New Roman" pitchFamily="18" charset="0"/>
                        <a:cs typeface="Times New Roman" pitchFamily="18" charset="0"/>
                      </a:endParaRPr>
                    </a:p>
                  </a:txBody>
                  <a:tcPr/>
                </a:tc>
                <a:tc>
                  <a:txBody>
                    <a:bodyPr/>
                    <a:lstStyle/>
                    <a:p>
                      <a:r>
                        <a:rPr lang="en-US" sz="1800" kern="1200" dirty="0" smtClean="0">
                          <a:solidFill>
                            <a:schemeClr val="dk1"/>
                          </a:solidFill>
                          <a:effectLst/>
                          <a:latin typeface="+mn-lt"/>
                          <a:ea typeface="+mn-ea"/>
                          <a:cs typeface="+mn-cs"/>
                        </a:rPr>
                        <a:t>Minimizes network latency and GPU wastage.</a:t>
                      </a:r>
                      <a:endParaRPr lang="en-US" dirty="0">
                        <a:latin typeface="Times New Roman" pitchFamily="18" charset="0"/>
                        <a:cs typeface="Times New Roman" pitchFamily="18" charset="0"/>
                      </a:endParaRPr>
                    </a:p>
                  </a:txBody>
                  <a:tcPr/>
                </a:tc>
                <a:tc>
                  <a:txBody>
                    <a:bodyPr/>
                    <a:lstStyle/>
                    <a:p>
                      <a:r>
                        <a:rPr lang="en-US" sz="1800" kern="1200" dirty="0" smtClean="0">
                          <a:solidFill>
                            <a:schemeClr val="dk1"/>
                          </a:solidFill>
                          <a:effectLst/>
                          <a:latin typeface="+mn-lt"/>
                          <a:ea typeface="+mn-ea"/>
                          <a:cs typeface="+mn-cs"/>
                        </a:rPr>
                        <a:t>Manual graph splitting is complex.</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823044">
                <a:tc>
                  <a:txBody>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tc>
                  <a:txBody>
                    <a:bodyPr/>
                    <a:lstStyle/>
                    <a:p>
                      <a:pPr marL="0" marR="0" algn="just">
                        <a:lnSpc>
                          <a:spcPct val="150000"/>
                        </a:lnSpc>
                        <a:spcBef>
                          <a:spcPts val="0"/>
                        </a:spcBef>
                        <a:spcAft>
                          <a:spcPts val="0"/>
                        </a:spcAft>
                      </a:pPr>
                      <a:r>
                        <a:rPr lang="en-US" sz="1400" dirty="0">
                          <a:latin typeface="Times New Roman"/>
                          <a:ea typeface="Times New Roman"/>
                        </a:rPr>
                        <a:t>A review of research on multi-cloud management platforms</a:t>
                      </a:r>
                      <a:endParaRPr lang="en-US" sz="1200" dirty="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dirty="0" err="1" smtClean="0">
                          <a:latin typeface="Times New Roman"/>
                          <a:ea typeface="Times New Roman"/>
                        </a:rPr>
                        <a:t>Dishu</a:t>
                      </a:r>
                      <a:r>
                        <a:rPr lang="en-US" sz="1400" dirty="0" smtClean="0">
                          <a:latin typeface="Times New Roman"/>
                          <a:ea typeface="Times New Roman"/>
                        </a:rPr>
                        <a:t> Xu &amp; </a:t>
                      </a:r>
                      <a:r>
                        <a:rPr lang="en-US" sz="1400" dirty="0" err="1" smtClean="0">
                          <a:latin typeface="Times New Roman"/>
                          <a:ea typeface="Times New Roman"/>
                        </a:rPr>
                        <a:t>Fagui</a:t>
                      </a:r>
                      <a:r>
                        <a:rPr lang="en-US" sz="1400" dirty="0" smtClean="0">
                          <a:latin typeface="Times New Roman"/>
                          <a:ea typeface="Times New Roman"/>
                        </a:rPr>
                        <a:t> Liu</a:t>
                      </a:r>
                      <a:endParaRPr lang="en-US" sz="1400" dirty="0">
                        <a:latin typeface="Times New Roman"/>
                        <a:ea typeface="Times New Roman"/>
                      </a:endParaRPr>
                    </a:p>
                  </a:txBody>
                  <a:tcPr marL="68580" marR="68580" marT="0" marB="0"/>
                </a:tc>
                <a:tc>
                  <a:txBody>
                    <a:bodyPr/>
                    <a:lstStyle/>
                    <a:p>
                      <a:r>
                        <a:rPr lang="en-US" sz="1400" kern="1200" dirty="0" smtClean="0">
                          <a:solidFill>
                            <a:schemeClr val="dk1"/>
                          </a:solidFill>
                          <a:effectLst/>
                          <a:latin typeface="+mn-lt"/>
                          <a:ea typeface="+mn-ea"/>
                          <a:cs typeface="+mn-cs"/>
                        </a:rPr>
                        <a:t>The review synthesizes multi-cloud management research to provide a comprehensive reference for demand-based platform construction.</a:t>
                      </a:r>
                      <a:endParaRPr lang="en-US" sz="1400" dirty="0">
                        <a:latin typeface="Times New Roman" pitchFamily="18" charset="0"/>
                        <a:cs typeface="Times New Roman" pitchFamily="18" charset="0"/>
                      </a:endParaRPr>
                    </a:p>
                  </a:txBody>
                  <a:tcPr/>
                </a:tc>
                <a:tc>
                  <a:txBody>
                    <a:bodyPr/>
                    <a:lstStyle/>
                    <a:p>
                      <a:r>
                        <a:rPr lang="en-US" sz="1800" kern="1200" dirty="0" smtClean="0">
                          <a:solidFill>
                            <a:schemeClr val="dk1"/>
                          </a:solidFill>
                          <a:effectLst/>
                          <a:latin typeface="+mn-lt"/>
                          <a:ea typeface="+mn-ea"/>
                          <a:cs typeface="+mn-cs"/>
                        </a:rPr>
                        <a:t>Provides comprehensive architectural summaries.</a:t>
                      </a:r>
                      <a:endParaRPr lang="en-US" dirty="0">
                        <a:latin typeface="Times New Roman" pitchFamily="18" charset="0"/>
                        <a:cs typeface="Times New Roman" pitchFamily="18" charset="0"/>
                      </a:endParaRPr>
                    </a:p>
                  </a:txBody>
                  <a:tcPr/>
                </a:tc>
                <a:tc>
                  <a:txBody>
                    <a:bodyPr/>
                    <a:lstStyle/>
                    <a:p>
                      <a:r>
                        <a:rPr lang="en-US" sz="1800" kern="1200" dirty="0" smtClean="0">
                          <a:solidFill>
                            <a:schemeClr val="dk1"/>
                          </a:solidFill>
                          <a:effectLst/>
                          <a:latin typeface="+mn-lt"/>
                          <a:ea typeface="+mn-ea"/>
                          <a:cs typeface="+mn-cs"/>
                        </a:rPr>
                        <a:t>Mainstream platform comparisons are now outdated.</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242985">
                <a:tc>
                  <a:txBody>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3.</a:t>
                      </a:r>
                      <a:endParaRPr lang="en-US" dirty="0">
                        <a:latin typeface="Times New Roman" pitchFamily="18" charset="0"/>
                        <a:cs typeface="Times New Roman" pitchFamily="18" charset="0"/>
                      </a:endParaRPr>
                    </a:p>
                  </a:txBody>
                  <a:tcPr/>
                </a:tc>
                <a:tc>
                  <a:txBody>
                    <a:bodyPr/>
                    <a:lstStyle/>
                    <a:p>
                      <a:r>
                        <a:rPr lang="en-US" sz="1400" kern="1200" dirty="0" smtClean="0">
                          <a:solidFill>
                            <a:schemeClr val="dk1"/>
                          </a:solidFill>
                          <a:latin typeface="+mn-lt"/>
                          <a:ea typeface="+mn-ea"/>
                          <a:cs typeface="+mn-cs"/>
                        </a:rPr>
                        <a:t>Intelligent Resource Allocation in Cloud Environment via ML-Based Optimization Methods</a:t>
                      </a:r>
                      <a:endParaRPr lang="en-US" sz="1400" dirty="0">
                        <a:latin typeface="Times New Roman" pitchFamily="18" charset="0"/>
                        <a:cs typeface="Times New Roman" pitchFamily="18" charset="0"/>
                      </a:endParaRPr>
                    </a:p>
                  </a:txBody>
                  <a:tcPr/>
                </a:tc>
                <a:tc>
                  <a:txBody>
                    <a:bodyPr/>
                    <a:lstStyle/>
                    <a:p>
                      <a:r>
                        <a:rPr lang="en-US" dirty="0" err="1" smtClean="0">
                          <a:latin typeface="Times New Roman" pitchFamily="18" charset="0"/>
                          <a:cs typeface="Times New Roman" pitchFamily="18" charset="0"/>
                        </a:rPr>
                        <a:t>Gopikrishna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maddali</a:t>
                      </a:r>
                      <a:r>
                        <a:rPr lang="en-US" dirty="0" smtClean="0">
                          <a:latin typeface="Times New Roman" pitchFamily="18" charset="0"/>
                          <a:cs typeface="Times New Roman" pitchFamily="18" charset="0"/>
                        </a:rPr>
                        <a:t> &amp; Krishna </a:t>
                      </a:r>
                      <a:r>
                        <a:rPr lang="en-US" dirty="0" err="1" smtClean="0">
                          <a:latin typeface="Times New Roman" pitchFamily="18" charset="0"/>
                          <a:cs typeface="Times New Roman" pitchFamily="18" charset="0"/>
                        </a:rPr>
                        <a:t>kumar</a:t>
                      </a:r>
                      <a:endParaRPr lang="en-US"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A three-layer LSTM deep learning framework for proactive, real-time CPU and memory demand forecasting.</a:t>
                      </a:r>
                      <a:endParaRPr lang="en-US" sz="1400" dirty="0">
                        <a:latin typeface="Times New Roman" pitchFamily="18" charset="0"/>
                        <a:cs typeface="Times New Roman" pitchFamily="18" charset="0"/>
                      </a:endParaRPr>
                    </a:p>
                  </a:txBody>
                  <a:tcPr/>
                </a:tc>
                <a:tc>
                  <a:txBody>
                    <a:bodyPr/>
                    <a:lstStyle/>
                    <a:p>
                      <a:r>
                        <a:rPr lang="en-US" sz="1800" kern="1200" dirty="0" smtClean="0">
                          <a:solidFill>
                            <a:schemeClr val="dk1"/>
                          </a:solidFill>
                          <a:effectLst/>
                          <a:latin typeface="+mn-lt"/>
                          <a:ea typeface="+mn-ea"/>
                          <a:cs typeface="+mn-cs"/>
                        </a:rPr>
                        <a:t>High prediction accuracy using real-world datasets.</a:t>
                      </a:r>
                      <a:endParaRPr lang="en-US" dirty="0">
                        <a:latin typeface="Times New Roman" pitchFamily="18" charset="0"/>
                        <a:cs typeface="Times New Roman" pitchFamily="18" charset="0"/>
                      </a:endParaRPr>
                    </a:p>
                  </a:txBody>
                  <a:tcPr/>
                </a:tc>
                <a:tc>
                  <a:txBody>
                    <a:bodyPr/>
                    <a:lstStyle/>
                    <a:p>
                      <a:r>
                        <a:rPr lang="en-US" sz="1800" kern="1200" dirty="0" smtClean="0">
                          <a:solidFill>
                            <a:schemeClr val="dk1"/>
                          </a:solidFill>
                          <a:effectLst/>
                          <a:latin typeface="+mn-lt"/>
                          <a:ea typeface="+mn-ea"/>
                          <a:cs typeface="+mn-cs"/>
                        </a:rPr>
                        <a:t>High model training complexity.</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40365" cy="1011555"/>
          </a:xfrm>
          <a:solidFill>
            <a:srgbClr val="002060"/>
          </a:solidFill>
        </p:spPr>
        <p:txBody>
          <a:bodyPr/>
          <a:lstStyle/>
          <a:p>
            <a:r>
              <a:rPr lang="en-US" b="1" dirty="0" smtClean="0">
                <a:solidFill>
                  <a:schemeClr val="bg1"/>
                </a:solidFill>
                <a:latin typeface="Times New Roman" panose="02020603050405020304" pitchFamily="18" charset="0"/>
                <a:cs typeface="Times New Roman" panose="02020603050405020304" pitchFamily="18" charset="0"/>
              </a:rPr>
              <a:t>Literature Review</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Dept. of </a:t>
            </a:r>
            <a:r>
              <a:rPr lang="en-US" altLang="en-IN" dirty="0">
                <a:ln>
                  <a:solidFill>
                    <a:schemeClr val="bg1"/>
                  </a:solidFill>
                </a:ln>
                <a:solidFill>
                  <a:schemeClr val="bg1"/>
                </a:solidFill>
              </a:rPr>
              <a:t>AI&amp;ML,RRCE</a:t>
            </a:r>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pPr/>
              <a:t>5</a:t>
            </a:fld>
            <a:endParaRPr lang="en-IN" dirty="0">
              <a:ln>
                <a:solidFill>
                  <a:schemeClr val="bg1"/>
                </a:solidFill>
              </a:ln>
              <a:solidFill>
                <a:schemeClr val="bg1"/>
              </a:solidFill>
            </a:endParaRPr>
          </a:p>
        </p:txBody>
      </p:sp>
      <p:pic>
        <p:nvPicPr>
          <p:cNvPr id="102" name="Content Placeholder 101"/>
          <p:cNvPicPr>
            <a:picLocks noGrp="1" noChangeAspect="1"/>
          </p:cNvPicPr>
          <p:nvPr>
            <p:ph idx="1"/>
          </p:nvPr>
        </p:nvPicPr>
        <p:blipFill>
          <a:blip r:embed="rId2"/>
          <a:stretch>
            <a:fillRect/>
          </a:stretch>
        </p:blipFill>
        <p:spPr>
          <a:xfrm>
            <a:off x="10541000" y="0"/>
            <a:ext cx="1505585" cy="1011555"/>
          </a:xfrm>
          <a:prstGeom prst="rect">
            <a:avLst/>
          </a:prstGeom>
          <a:noFill/>
          <a:ln w="9525">
            <a:noFill/>
          </a:ln>
        </p:spPr>
      </p:pic>
      <p:graphicFrame>
        <p:nvGraphicFramePr>
          <p:cNvPr id="6" name="Content Placeholder 6"/>
          <p:cNvGraphicFramePr>
            <a:graphicFrameLocks/>
          </p:cNvGraphicFramePr>
          <p:nvPr>
            <p:extLst>
              <p:ext uri="{D42A27DB-BD31-4B8C-83A1-F6EECF244321}">
                <p14:modId xmlns:p14="http://schemas.microsoft.com/office/powerpoint/2010/main" val="3652642302"/>
              </p:ext>
            </p:extLst>
          </p:nvPr>
        </p:nvGraphicFramePr>
        <p:xfrm>
          <a:off x="258793" y="1153990"/>
          <a:ext cx="10895162" cy="5271062"/>
        </p:xfrm>
        <a:graphic>
          <a:graphicData uri="http://schemas.openxmlformats.org/drawingml/2006/table">
            <a:tbl>
              <a:tblPr firstRow="1" bandRow="1">
                <a:tableStyleId>{5C22544A-7EE6-4342-B048-85BDC9FD1C3A}</a:tableStyleId>
              </a:tblPr>
              <a:tblGrid>
                <a:gridCol w="883622">
                  <a:extLst>
                    <a:ext uri="{9D8B030D-6E8A-4147-A177-3AD203B41FA5}">
                      <a16:colId xmlns:a16="http://schemas.microsoft.com/office/drawing/2014/main" val="20000"/>
                    </a:ext>
                  </a:extLst>
                </a:gridCol>
                <a:gridCol w="2438088">
                  <a:extLst>
                    <a:ext uri="{9D8B030D-6E8A-4147-A177-3AD203B41FA5}">
                      <a16:colId xmlns:a16="http://schemas.microsoft.com/office/drawing/2014/main" val="20001"/>
                    </a:ext>
                  </a:extLst>
                </a:gridCol>
                <a:gridCol w="2089475">
                  <a:extLst>
                    <a:ext uri="{9D8B030D-6E8A-4147-A177-3AD203B41FA5}">
                      <a16:colId xmlns:a16="http://schemas.microsoft.com/office/drawing/2014/main" val="20002"/>
                    </a:ext>
                  </a:extLst>
                </a:gridCol>
                <a:gridCol w="1852257">
                  <a:extLst>
                    <a:ext uri="{9D8B030D-6E8A-4147-A177-3AD203B41FA5}">
                      <a16:colId xmlns:a16="http://schemas.microsoft.com/office/drawing/2014/main" val="20003"/>
                    </a:ext>
                  </a:extLst>
                </a:gridCol>
                <a:gridCol w="1815860">
                  <a:extLst>
                    <a:ext uri="{9D8B030D-6E8A-4147-A177-3AD203B41FA5}">
                      <a16:colId xmlns:a16="http://schemas.microsoft.com/office/drawing/2014/main" val="20004"/>
                    </a:ext>
                  </a:extLst>
                </a:gridCol>
                <a:gridCol w="1815860">
                  <a:extLst>
                    <a:ext uri="{9D8B030D-6E8A-4147-A177-3AD203B41FA5}">
                      <a16:colId xmlns:a16="http://schemas.microsoft.com/office/drawing/2014/main" val="20005"/>
                    </a:ext>
                  </a:extLst>
                </a:gridCol>
              </a:tblGrid>
              <a:tr h="580060">
                <a:tc>
                  <a:txBody>
                    <a:bodyPr/>
                    <a:lstStyle/>
                    <a:p>
                      <a:r>
                        <a:rPr lang="en-US" dirty="0" err="1" smtClean="0">
                          <a:latin typeface="Times New Roman" pitchFamily="18" charset="0"/>
                          <a:cs typeface="Times New Roman" pitchFamily="18" charset="0"/>
                        </a:rPr>
                        <a:t>SL.no</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TITLE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Author(s) &amp;</a:t>
                      </a:r>
                    </a:p>
                    <a:p>
                      <a:r>
                        <a:rPr lang="en-US" dirty="0" smtClean="0">
                          <a:latin typeface="Times New Roman" pitchFamily="18" charset="0"/>
                          <a:cs typeface="Times New Roman" pitchFamily="18" charset="0"/>
                        </a:rPr>
                        <a:t>        Year</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Proposed </a:t>
                      </a:r>
                    </a:p>
                    <a:p>
                      <a:r>
                        <a:rPr lang="en-US" dirty="0" smtClean="0">
                          <a:latin typeface="Times New Roman" pitchFamily="18" charset="0"/>
                          <a:cs typeface="Times New Roman" pitchFamily="18" charset="0"/>
                        </a:rPr>
                        <a:t>     System</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Advantages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Disadvantages</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1436338">
                <a:tc>
                  <a:txBody>
                    <a:bodyPr/>
                    <a:lstStyle/>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4.</a:t>
                      </a:r>
                      <a:endParaRPr lang="en-US" sz="1600" dirty="0">
                        <a:latin typeface="Times New Roman" pitchFamily="18" charset="0"/>
                        <a:cs typeface="Times New Roman" pitchFamily="18" charset="0"/>
                      </a:endParaRPr>
                    </a:p>
                  </a:txBody>
                  <a:tcPr/>
                </a:tc>
                <a:tc>
                  <a:txBody>
                    <a:bodyPr/>
                    <a:lstStyle/>
                    <a:p>
                      <a:r>
                        <a:rPr lang="en-GB" sz="1400" kern="1200" dirty="0" smtClean="0">
                          <a:solidFill>
                            <a:schemeClr val="dk1"/>
                          </a:solidFill>
                          <a:effectLst/>
                          <a:latin typeface="Times New Roman" panose="02020603050405020304" pitchFamily="18" charset="0"/>
                          <a:ea typeface="+mn-ea"/>
                          <a:cs typeface="Times New Roman" panose="02020603050405020304" pitchFamily="18" charset="0"/>
                        </a:rPr>
                        <a:t>VDEP: VM Dependency Discovery in Multi-tier Cloud Applications</a:t>
                      </a:r>
                      <a:endParaRPr lang="en-US" sz="1100" dirty="0">
                        <a:latin typeface="Times New Roman" pitchFamily="18" charset="0"/>
                        <a:cs typeface="Times New Roman" pitchFamily="18" charset="0"/>
                      </a:endParaRPr>
                    </a:p>
                  </a:txBody>
                  <a:tcPr/>
                </a:tc>
                <a:tc>
                  <a:txBody>
                    <a:bodyPr/>
                    <a:lstStyle/>
                    <a:p>
                      <a:pPr marL="0" marR="0" algn="just">
                        <a:lnSpc>
                          <a:spcPct val="150000"/>
                        </a:lnSpc>
                        <a:spcBef>
                          <a:spcPts val="0"/>
                        </a:spcBef>
                        <a:spcAft>
                          <a:spcPts val="0"/>
                        </a:spcAft>
                      </a:pPr>
                      <a:r>
                        <a:rPr lang="en-US" sz="1400" kern="1200" dirty="0" err="1" smtClean="0">
                          <a:solidFill>
                            <a:schemeClr val="dk1"/>
                          </a:solidFill>
                          <a:effectLst/>
                          <a:latin typeface="Times New Roman" panose="02020603050405020304" pitchFamily="18" charset="0"/>
                          <a:ea typeface="+mn-ea"/>
                          <a:cs typeface="Times New Roman" panose="02020603050405020304" pitchFamily="18" charset="0"/>
                        </a:rPr>
                        <a:t>Akkarit</a:t>
                      </a:r>
                      <a:r>
                        <a:rPr lang="en-US" sz="14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dirty="0" err="1" smtClean="0">
                          <a:solidFill>
                            <a:schemeClr val="dk1"/>
                          </a:solidFill>
                          <a:effectLst/>
                          <a:latin typeface="Times New Roman" panose="02020603050405020304" pitchFamily="18" charset="0"/>
                          <a:ea typeface="+mn-ea"/>
                          <a:cs typeface="Times New Roman" panose="02020603050405020304" pitchFamily="18" charset="0"/>
                        </a:rPr>
                        <a:t>sangpetch</a:t>
                      </a:r>
                      <a:r>
                        <a:rPr lang="en-US" sz="1400" kern="1200" dirty="0" smtClean="0">
                          <a:solidFill>
                            <a:schemeClr val="dk1"/>
                          </a:solidFill>
                          <a:effectLst/>
                          <a:latin typeface="Times New Roman" panose="02020603050405020304" pitchFamily="18" charset="0"/>
                          <a:ea typeface="+mn-ea"/>
                          <a:cs typeface="Times New Roman" panose="02020603050405020304" pitchFamily="18" charset="0"/>
                        </a:rPr>
                        <a:t> &amp; </a:t>
                      </a:r>
                      <a:r>
                        <a:rPr lang="en-US" sz="1400" kern="1200" dirty="0" err="1" smtClean="0">
                          <a:solidFill>
                            <a:schemeClr val="dk1"/>
                          </a:solidFill>
                          <a:effectLst/>
                          <a:latin typeface="Times New Roman" panose="02020603050405020304" pitchFamily="18" charset="0"/>
                          <a:ea typeface="+mn-ea"/>
                          <a:cs typeface="Times New Roman" panose="02020603050405020304" pitchFamily="18" charset="0"/>
                        </a:rPr>
                        <a:t>Hyong</a:t>
                      </a:r>
                      <a:r>
                        <a:rPr lang="en-US" sz="1400" kern="1200" dirty="0" smtClean="0">
                          <a:solidFill>
                            <a:schemeClr val="dk1"/>
                          </a:solidFill>
                          <a:effectLst/>
                          <a:latin typeface="Times New Roman" panose="02020603050405020304" pitchFamily="18" charset="0"/>
                          <a:ea typeface="+mn-ea"/>
                          <a:cs typeface="Times New Roman" panose="02020603050405020304" pitchFamily="18" charset="0"/>
                        </a:rPr>
                        <a:t> s Kim </a:t>
                      </a:r>
                      <a:endParaRPr lang="en-US" sz="1100" dirty="0">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r>
                        <a:rPr lang="en-GB" sz="1400" dirty="0" smtClean="0">
                          <a:latin typeface="Times New Roman" pitchFamily="18" charset="0"/>
                          <a:cs typeface="Times New Roman" pitchFamily="18" charset="0"/>
                        </a:rPr>
                        <a:t>An automatic VM dependency discovery system using network traffic monitoring and stochastic response time </a:t>
                      </a:r>
                      <a:r>
                        <a:rPr lang="en-GB" sz="1400" dirty="0" err="1" smtClean="0">
                          <a:latin typeface="Times New Roman" pitchFamily="18" charset="0"/>
                          <a:cs typeface="Times New Roman" pitchFamily="18" charset="0"/>
                        </a:rPr>
                        <a:t>modeling</a:t>
                      </a:r>
                      <a:r>
                        <a:rPr lang="en-GB" sz="1400" dirty="0" smtClean="0">
                          <a:latin typeface="Times New Roman" pitchFamily="18" charset="0"/>
                          <a:cs typeface="Times New Roman" pitchFamily="18" charset="0"/>
                        </a:rPr>
                        <a:t>.</a:t>
                      </a:r>
                      <a:endParaRPr lang="en-US" sz="1400" dirty="0">
                        <a:latin typeface="Times New Roman" pitchFamily="18" charset="0"/>
                        <a:cs typeface="Times New Roman" pitchFamily="18" charset="0"/>
                      </a:endParaRPr>
                    </a:p>
                  </a:txBody>
                  <a:tcPr/>
                </a:tc>
                <a:tc>
                  <a:txBody>
                    <a:bodyPr/>
                    <a:lstStyle/>
                    <a:p>
                      <a:r>
                        <a:rPr lang="en-GB" sz="1400" kern="1200" dirty="0" smtClean="0">
                          <a:solidFill>
                            <a:schemeClr val="dk1"/>
                          </a:solidFill>
                          <a:effectLst/>
                          <a:latin typeface="Times New Roman" panose="02020603050405020304" pitchFamily="18" charset="0"/>
                          <a:ea typeface="+mn-ea"/>
                          <a:cs typeface="Times New Roman" panose="02020603050405020304" pitchFamily="18" charset="0"/>
                        </a:rPr>
                        <a:t>Non-intrusive dependency discovery with high response time prediction accuracy.</a:t>
                      </a:r>
                      <a:endParaRPr lang="en-US" sz="1400" dirty="0">
                        <a:latin typeface="Times New Roman" pitchFamily="18" charset="0"/>
                        <a:cs typeface="Times New Roman" pitchFamily="18" charset="0"/>
                      </a:endParaRPr>
                    </a:p>
                  </a:txBody>
                  <a:tcPr/>
                </a:tc>
                <a:tc>
                  <a:txBody>
                    <a:bodyPr/>
                    <a:lstStyle/>
                    <a:p>
                      <a:pPr algn="l">
                        <a:lnSpc>
                          <a:spcPct val="150000"/>
                        </a:lnSpc>
                        <a:spcAft>
                          <a:spcPts val="0"/>
                        </a:spcAft>
                      </a:pPr>
                      <a:r>
                        <a:rPr lang="en-US" sz="1400" dirty="0">
                          <a:effectLst/>
                          <a:latin typeface="Times New Roman" panose="02020603050405020304" pitchFamily="18" charset="0"/>
                          <a:ea typeface="Times New Roman" panose="02020603050405020304" pitchFamily="18" charset="0"/>
                        </a:rPr>
                        <a:t>Occasional incorrect associations during concurrent request processing.</a:t>
                      </a:r>
                      <a:endParaRPr lang="en-GB" sz="1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823044">
                <a:tc>
                  <a:txBody>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5.</a:t>
                      </a:r>
                      <a:endParaRPr lang="en-US" dirty="0">
                        <a:latin typeface="Times New Roman" pitchFamily="18" charset="0"/>
                        <a:cs typeface="Times New Roman" pitchFamily="18" charset="0"/>
                      </a:endParaRPr>
                    </a:p>
                  </a:txBody>
                  <a:tcPr/>
                </a:tc>
                <a:tc>
                  <a:txBody>
                    <a:bodyPr/>
                    <a:lstStyle/>
                    <a:p>
                      <a:pPr>
                        <a:spcAft>
                          <a:spcPts val="0"/>
                        </a:spcAft>
                      </a:pPr>
                      <a:r>
                        <a:rPr lang="en-GB" sz="1400" dirty="0">
                          <a:effectLst/>
                          <a:latin typeface="Times New Roman" panose="02020603050405020304" pitchFamily="18" charset="0"/>
                          <a:ea typeface="Times New Roman" panose="02020603050405020304" pitchFamily="18" charset="0"/>
                        </a:rPr>
                        <a:t>Managing A Cloud for Multi-agent Systems on</a:t>
                      </a:r>
                    </a:p>
                    <a:p>
                      <a:pPr algn="just">
                        <a:lnSpc>
                          <a:spcPct val="150000"/>
                        </a:lnSpc>
                        <a:spcAft>
                          <a:spcPts val="0"/>
                        </a:spcAft>
                      </a:pPr>
                      <a:r>
                        <a:rPr lang="en-GB" sz="1400" dirty="0">
                          <a:effectLst/>
                          <a:latin typeface="Times New Roman" panose="02020603050405020304" pitchFamily="18" charset="0"/>
                          <a:ea typeface="Times New Roman" panose="02020603050405020304" pitchFamily="18" charset="0"/>
                        </a:rPr>
                        <a:t>Ad-hoc Networks</a:t>
                      </a:r>
                    </a:p>
                  </a:txBody>
                  <a:tcPr marL="68580" marR="68580" marT="0" marB="0"/>
                </a:tc>
                <a:tc>
                  <a:txBody>
                    <a:bodyPr/>
                    <a:lstStyle/>
                    <a:p>
                      <a:pPr marL="0" marR="0" algn="just">
                        <a:lnSpc>
                          <a:spcPct val="150000"/>
                        </a:lnSpc>
                        <a:spcBef>
                          <a:spcPts val="0"/>
                        </a:spcBef>
                        <a:spcAft>
                          <a:spcPts val="0"/>
                        </a:spcAft>
                      </a:pPr>
                      <a:r>
                        <a:rPr lang="en-US" sz="1400" kern="1200" dirty="0" err="1" smtClean="0">
                          <a:solidFill>
                            <a:schemeClr val="dk1"/>
                          </a:solidFill>
                          <a:effectLst/>
                          <a:latin typeface="Times New Roman" panose="02020603050405020304" pitchFamily="18" charset="0"/>
                          <a:ea typeface="+mn-ea"/>
                          <a:cs typeface="Times New Roman" panose="02020603050405020304" pitchFamily="18" charset="0"/>
                        </a:rPr>
                        <a:t>Subhajit</a:t>
                      </a:r>
                      <a:r>
                        <a:rPr lang="en-US" sz="14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dirty="0" err="1" smtClean="0">
                          <a:solidFill>
                            <a:schemeClr val="dk1"/>
                          </a:solidFill>
                          <a:effectLst/>
                          <a:latin typeface="Times New Roman" panose="02020603050405020304" pitchFamily="18" charset="0"/>
                          <a:ea typeface="+mn-ea"/>
                          <a:cs typeface="Times New Roman" panose="02020603050405020304" pitchFamily="18" charset="0"/>
                        </a:rPr>
                        <a:t>sidhanta</a:t>
                      </a:r>
                      <a:r>
                        <a:rPr lang="en-US" sz="1400" kern="1200" dirty="0" smtClean="0">
                          <a:solidFill>
                            <a:schemeClr val="dk1"/>
                          </a:solidFill>
                          <a:effectLst/>
                          <a:latin typeface="Times New Roman" panose="02020603050405020304" pitchFamily="18" charset="0"/>
                          <a:ea typeface="+mn-ea"/>
                          <a:cs typeface="Times New Roman" panose="02020603050405020304" pitchFamily="18" charset="0"/>
                        </a:rPr>
                        <a:t> &amp; </a:t>
                      </a:r>
                      <a:r>
                        <a:rPr lang="en-US" sz="1400" kern="1200" dirty="0" err="1" smtClean="0">
                          <a:solidFill>
                            <a:schemeClr val="dk1"/>
                          </a:solidFill>
                          <a:effectLst/>
                          <a:latin typeface="Times New Roman" panose="02020603050405020304" pitchFamily="18" charset="0"/>
                          <a:ea typeface="+mn-ea"/>
                          <a:cs typeface="Times New Roman" panose="02020603050405020304" pitchFamily="18" charset="0"/>
                        </a:rPr>
                        <a:t>suprathik</a:t>
                      </a:r>
                      <a:r>
                        <a:rPr lang="en-US" sz="14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dirty="0" err="1" smtClean="0">
                          <a:solidFill>
                            <a:schemeClr val="dk1"/>
                          </a:solidFill>
                          <a:effectLst/>
                          <a:latin typeface="Times New Roman" panose="02020603050405020304" pitchFamily="18" charset="0"/>
                          <a:ea typeface="+mn-ea"/>
                          <a:cs typeface="Times New Roman" panose="02020603050405020304" pitchFamily="18" charset="0"/>
                        </a:rPr>
                        <a:t>mukopadhyay</a:t>
                      </a:r>
                      <a:endParaRPr lang="en-US" sz="1100" dirty="0">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r>
                        <a:rPr lang="en-GB" sz="1400" dirty="0" smtClean="0">
                          <a:latin typeface="Times New Roman" pitchFamily="18" charset="0"/>
                          <a:cs typeface="Times New Roman" pitchFamily="18" charset="0"/>
                        </a:rPr>
                        <a:t>Proposed system prototype operating system providing consistent </a:t>
                      </a:r>
                      <a:r>
                        <a:rPr lang="en-GB" sz="1400" dirty="0" err="1" smtClean="0">
                          <a:latin typeface="Times New Roman" pitchFamily="18" charset="0"/>
                          <a:cs typeface="Times New Roman" pitchFamily="18" charset="0"/>
                        </a:rPr>
                        <a:t>singlemachine</a:t>
                      </a:r>
                      <a:r>
                        <a:rPr lang="en-GB" sz="1400" dirty="0" smtClean="0">
                          <a:latin typeface="Times New Roman" pitchFamily="18" charset="0"/>
                          <a:cs typeface="Times New Roman" pitchFamily="18" charset="0"/>
                        </a:rPr>
                        <a:t>  elastic multi-agent</a:t>
                      </a:r>
                      <a:endParaRPr lang="en-US" sz="1400"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Provides a unified, consistent view for intermittently connected networks.</a:t>
                      </a:r>
                      <a:endParaRPr lang="en-US" sz="1400"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Reliance on a majority-node quorum for uninterrupted operation.</a:t>
                      </a:r>
                      <a:endParaRPr lang="en-US" sz="14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242985">
                <a:tc>
                  <a:txBody>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Who Needs </a:t>
                      </a:r>
                      <a:r>
                        <a:rPr lang="en-GB" sz="1400" dirty="0" err="1" smtClean="0">
                          <a:latin typeface="Times New Roman" pitchFamily="18" charset="0"/>
                          <a:cs typeface="Times New Roman" pitchFamily="18" charset="0"/>
                        </a:rPr>
                        <a:t>MLOps</a:t>
                      </a:r>
                      <a:r>
                        <a:rPr lang="en-GB" sz="1400" dirty="0" smtClean="0">
                          <a:latin typeface="Times New Roman" pitchFamily="18" charset="0"/>
                          <a:cs typeface="Times New Roman" pitchFamily="18" charset="0"/>
                        </a:rPr>
                        <a:t>: What Data Scientists Seek to</a:t>
                      </a:r>
                    </a:p>
                    <a:p>
                      <a:r>
                        <a:rPr lang="en-GB" sz="1400" dirty="0" smtClean="0">
                          <a:latin typeface="Times New Roman" pitchFamily="18" charset="0"/>
                          <a:cs typeface="Times New Roman" pitchFamily="18" charset="0"/>
                        </a:rPr>
                        <a:t>Accomplish and How Can </a:t>
                      </a:r>
                      <a:r>
                        <a:rPr lang="en-GB" sz="1400" dirty="0" err="1" smtClean="0">
                          <a:latin typeface="Times New Roman" pitchFamily="18" charset="0"/>
                          <a:cs typeface="Times New Roman" pitchFamily="18" charset="0"/>
                        </a:rPr>
                        <a:t>MLOps</a:t>
                      </a:r>
                      <a:r>
                        <a:rPr lang="en-GB" sz="1400" dirty="0" smtClean="0">
                          <a:latin typeface="Times New Roman" pitchFamily="18" charset="0"/>
                          <a:cs typeface="Times New Roman" pitchFamily="18" charset="0"/>
                        </a:rPr>
                        <a:t> Help?</a:t>
                      </a:r>
                    </a:p>
                    <a:p>
                      <a:endParaRPr lang="en-US" sz="1400" dirty="0">
                        <a:latin typeface="Times New Roman" pitchFamily="18" charset="0"/>
                        <a:cs typeface="Times New Roman" pitchFamily="18" charset="0"/>
                      </a:endParaRPr>
                    </a:p>
                  </a:txBody>
                  <a:tcPr/>
                </a:tc>
                <a:tc>
                  <a:txBody>
                    <a:bodyPr/>
                    <a:lstStyle/>
                    <a:p>
                      <a:r>
                        <a:rPr lang="en-US" sz="1400" dirty="0" err="1" smtClean="0">
                          <a:latin typeface="Times New Roman" pitchFamily="18" charset="0"/>
                          <a:cs typeface="Times New Roman" pitchFamily="18" charset="0"/>
                        </a:rPr>
                        <a:t>Sasu</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Makinen</a:t>
                      </a:r>
                      <a:r>
                        <a:rPr lang="en-US" sz="1400" dirty="0" smtClean="0">
                          <a:latin typeface="Times New Roman" pitchFamily="18" charset="0"/>
                          <a:cs typeface="Times New Roman" pitchFamily="18" charset="0"/>
                        </a:rPr>
                        <a:t> &amp; Henrik </a:t>
                      </a:r>
                      <a:r>
                        <a:rPr lang="en-US" sz="1400" dirty="0" err="1" smtClean="0">
                          <a:latin typeface="Times New Roman" pitchFamily="18" charset="0"/>
                          <a:cs typeface="Times New Roman" pitchFamily="18" charset="0"/>
                        </a:rPr>
                        <a:t>Skogstrom</a:t>
                      </a:r>
                      <a:endParaRPr lang="en-US" sz="1400"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The paper uses an online survey of 331 machine learning professionals to study </a:t>
                      </a:r>
                      <a:r>
                        <a:rPr lang="en-GB" sz="1400" dirty="0" err="1" smtClean="0">
                          <a:latin typeface="Times New Roman" pitchFamily="18" charset="0"/>
                          <a:cs typeface="Times New Roman" pitchFamily="18" charset="0"/>
                        </a:rPr>
                        <a:t>MLOps</a:t>
                      </a:r>
                      <a:r>
                        <a:rPr lang="en-GB" sz="1400" dirty="0" smtClean="0">
                          <a:latin typeface="Times New Roman" pitchFamily="18" charset="0"/>
                          <a:cs typeface="Times New Roman" pitchFamily="18" charset="0"/>
                        </a:rPr>
                        <a:t> organizational importance.</a:t>
                      </a:r>
                      <a:endParaRPr lang="en-US" sz="1400"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Provides broad global insights into ML maturity</a:t>
                      </a:r>
                      <a:endParaRPr lang="en-US" sz="1400"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Geographic bias towards Finland and Europe.</a:t>
                      </a:r>
                      <a:endParaRPr lang="en-US" sz="14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6"/>
          <p:cNvGraphicFramePr>
            <a:graphicFrameLocks/>
          </p:cNvGraphicFramePr>
          <p:nvPr>
            <p:extLst>
              <p:ext uri="{D42A27DB-BD31-4B8C-83A1-F6EECF244321}">
                <p14:modId xmlns:p14="http://schemas.microsoft.com/office/powerpoint/2010/main" val="989614216"/>
              </p:ext>
            </p:extLst>
          </p:nvPr>
        </p:nvGraphicFramePr>
        <p:xfrm>
          <a:off x="258793" y="1153990"/>
          <a:ext cx="10895162" cy="3899462"/>
        </p:xfrm>
        <a:graphic>
          <a:graphicData uri="http://schemas.openxmlformats.org/drawingml/2006/table">
            <a:tbl>
              <a:tblPr firstRow="1" bandRow="1">
                <a:tableStyleId>{5C22544A-7EE6-4342-B048-85BDC9FD1C3A}</a:tableStyleId>
              </a:tblPr>
              <a:tblGrid>
                <a:gridCol w="883622">
                  <a:extLst>
                    <a:ext uri="{9D8B030D-6E8A-4147-A177-3AD203B41FA5}">
                      <a16:colId xmlns:a16="http://schemas.microsoft.com/office/drawing/2014/main" val="20000"/>
                    </a:ext>
                  </a:extLst>
                </a:gridCol>
                <a:gridCol w="2438088">
                  <a:extLst>
                    <a:ext uri="{9D8B030D-6E8A-4147-A177-3AD203B41FA5}">
                      <a16:colId xmlns:a16="http://schemas.microsoft.com/office/drawing/2014/main" val="20001"/>
                    </a:ext>
                  </a:extLst>
                </a:gridCol>
                <a:gridCol w="2089475">
                  <a:extLst>
                    <a:ext uri="{9D8B030D-6E8A-4147-A177-3AD203B41FA5}">
                      <a16:colId xmlns:a16="http://schemas.microsoft.com/office/drawing/2014/main" val="20002"/>
                    </a:ext>
                  </a:extLst>
                </a:gridCol>
                <a:gridCol w="1852257">
                  <a:extLst>
                    <a:ext uri="{9D8B030D-6E8A-4147-A177-3AD203B41FA5}">
                      <a16:colId xmlns:a16="http://schemas.microsoft.com/office/drawing/2014/main" val="20003"/>
                    </a:ext>
                  </a:extLst>
                </a:gridCol>
                <a:gridCol w="1815860">
                  <a:extLst>
                    <a:ext uri="{9D8B030D-6E8A-4147-A177-3AD203B41FA5}">
                      <a16:colId xmlns:a16="http://schemas.microsoft.com/office/drawing/2014/main" val="20004"/>
                    </a:ext>
                  </a:extLst>
                </a:gridCol>
                <a:gridCol w="1815860">
                  <a:extLst>
                    <a:ext uri="{9D8B030D-6E8A-4147-A177-3AD203B41FA5}">
                      <a16:colId xmlns:a16="http://schemas.microsoft.com/office/drawing/2014/main" val="20005"/>
                    </a:ext>
                  </a:extLst>
                </a:gridCol>
              </a:tblGrid>
              <a:tr h="580060">
                <a:tc>
                  <a:txBody>
                    <a:bodyPr/>
                    <a:lstStyle/>
                    <a:p>
                      <a:r>
                        <a:rPr lang="en-US" dirty="0" err="1" smtClean="0">
                          <a:latin typeface="Times New Roman" pitchFamily="18" charset="0"/>
                          <a:cs typeface="Times New Roman" pitchFamily="18" charset="0"/>
                        </a:rPr>
                        <a:t>SL.no</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TITLE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Author(s) &amp;</a:t>
                      </a:r>
                    </a:p>
                    <a:p>
                      <a:r>
                        <a:rPr lang="en-US" dirty="0" smtClean="0">
                          <a:latin typeface="Times New Roman" pitchFamily="18" charset="0"/>
                          <a:cs typeface="Times New Roman" pitchFamily="18" charset="0"/>
                        </a:rPr>
                        <a:t>        Year</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Proposed </a:t>
                      </a:r>
                    </a:p>
                    <a:p>
                      <a:r>
                        <a:rPr lang="en-US" dirty="0" smtClean="0">
                          <a:latin typeface="Times New Roman" pitchFamily="18" charset="0"/>
                          <a:cs typeface="Times New Roman" pitchFamily="18" charset="0"/>
                        </a:rPr>
                        <a:t>     System</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Advantages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Disadvantages</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1436338">
                <a:tc>
                  <a:txBody>
                    <a:bodyPr/>
                    <a:lstStyle/>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7.</a:t>
                      </a:r>
                      <a:endParaRPr lang="en-US" sz="1600" dirty="0">
                        <a:latin typeface="Times New Roman" pitchFamily="18" charset="0"/>
                        <a:cs typeface="Times New Roman" pitchFamily="18" charset="0"/>
                      </a:endParaRPr>
                    </a:p>
                  </a:txBody>
                  <a:tcPr/>
                </a:tc>
                <a:tc>
                  <a:txBody>
                    <a:bodyPr/>
                    <a:lstStyle/>
                    <a:p>
                      <a:pPr algn="just">
                        <a:lnSpc>
                          <a:spcPct val="150000"/>
                        </a:lnSpc>
                        <a:spcAft>
                          <a:spcPts val="0"/>
                        </a:spcAft>
                      </a:pPr>
                      <a:r>
                        <a:rPr lang="en-GB" sz="1400" dirty="0">
                          <a:effectLst/>
                          <a:latin typeface="Times New Roman" panose="02020603050405020304" pitchFamily="18" charset="0"/>
                          <a:ea typeface="Times New Roman" panose="02020603050405020304" pitchFamily="18" charset="0"/>
                        </a:rPr>
                        <a:t>Challenges affecting the successful adoption of</a:t>
                      </a:r>
                    </a:p>
                    <a:p>
                      <a:pPr algn="just">
                        <a:lnSpc>
                          <a:spcPct val="150000"/>
                        </a:lnSpc>
                        <a:spcAft>
                          <a:spcPts val="0"/>
                        </a:spcAft>
                      </a:pPr>
                      <a:r>
                        <a:rPr lang="en-GB" sz="1400" dirty="0">
                          <a:effectLst/>
                          <a:latin typeface="Times New Roman" panose="02020603050405020304" pitchFamily="18" charset="0"/>
                          <a:ea typeface="Times New Roman" panose="02020603050405020304" pitchFamily="18" charset="0"/>
                        </a:rPr>
                        <a:t>DevOps practices: A systematic literature review.</a:t>
                      </a:r>
                    </a:p>
                  </a:txBody>
                  <a:tcPr marL="68580" marR="68580" marT="0" marB="0"/>
                </a:tc>
                <a:tc>
                  <a:txBody>
                    <a:bodyPr/>
                    <a:lstStyle/>
                    <a:p>
                      <a:pPr marL="0" marR="0" algn="just">
                        <a:lnSpc>
                          <a:spcPct val="150000"/>
                        </a:lnSpc>
                        <a:spcBef>
                          <a:spcPts val="0"/>
                        </a:spcBef>
                        <a:spcAft>
                          <a:spcPts val="0"/>
                        </a:spcAft>
                      </a:pPr>
                      <a:r>
                        <a:rPr lang="en-US" sz="1400" dirty="0" err="1" smtClean="0">
                          <a:latin typeface="Times New Roman" panose="02020603050405020304" pitchFamily="18" charset="0"/>
                          <a:ea typeface="Times New Roman"/>
                          <a:cs typeface="Times New Roman" panose="02020603050405020304" pitchFamily="18" charset="0"/>
                        </a:rPr>
                        <a:t>Akalanka</a:t>
                      </a:r>
                      <a:r>
                        <a:rPr lang="en-US" sz="1400" dirty="0" smtClean="0">
                          <a:latin typeface="Times New Roman" panose="02020603050405020304" pitchFamily="18" charset="0"/>
                          <a:ea typeface="Times New Roman"/>
                          <a:cs typeface="Times New Roman" panose="02020603050405020304" pitchFamily="18" charset="0"/>
                        </a:rPr>
                        <a:t> </a:t>
                      </a:r>
                      <a:r>
                        <a:rPr lang="en-US" sz="1400" dirty="0" err="1" smtClean="0">
                          <a:latin typeface="Times New Roman" panose="02020603050405020304" pitchFamily="18" charset="0"/>
                          <a:ea typeface="Times New Roman"/>
                          <a:cs typeface="Times New Roman" panose="02020603050405020304" pitchFamily="18" charset="0"/>
                        </a:rPr>
                        <a:t>Nayanjith</a:t>
                      </a:r>
                      <a:r>
                        <a:rPr lang="en-US" sz="1400" dirty="0" smtClean="0">
                          <a:latin typeface="Times New Roman" panose="02020603050405020304" pitchFamily="18" charset="0"/>
                          <a:ea typeface="Times New Roman"/>
                          <a:cs typeface="Times New Roman" panose="02020603050405020304" pitchFamily="18" charset="0"/>
                        </a:rPr>
                        <a:t> &amp; </a:t>
                      </a:r>
                      <a:r>
                        <a:rPr lang="en-US" sz="1400" dirty="0" err="1" smtClean="0">
                          <a:latin typeface="Times New Roman" panose="02020603050405020304" pitchFamily="18" charset="0"/>
                          <a:ea typeface="Times New Roman"/>
                          <a:cs typeface="Times New Roman" panose="02020603050405020304" pitchFamily="18" charset="0"/>
                        </a:rPr>
                        <a:t>Ruwan</a:t>
                      </a:r>
                      <a:r>
                        <a:rPr lang="en-US" sz="1400" dirty="0" smtClean="0">
                          <a:latin typeface="Times New Roman" panose="02020603050405020304" pitchFamily="18" charset="0"/>
                          <a:ea typeface="Times New Roman"/>
                          <a:cs typeface="Times New Roman" panose="02020603050405020304" pitchFamily="18" charset="0"/>
                        </a:rPr>
                        <a:t> Wickramarachchi</a:t>
                      </a:r>
                      <a:endParaRPr lang="en-US" sz="1400" dirty="0">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r>
                        <a:rPr lang="en-GB" sz="1400" dirty="0" smtClean="0">
                          <a:latin typeface="Times New Roman" pitchFamily="18" charset="0"/>
                          <a:cs typeface="Times New Roman" pitchFamily="18" charset="0"/>
                        </a:rPr>
                        <a:t>A systematic literature review identifying and categorizing challenges affecting successful global DevOps adoption.</a:t>
                      </a:r>
                      <a:endParaRPr lang="en-US" sz="1400"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Thoroughly identifies and categorizes diverse DevOps adoption hurdles.</a:t>
                      </a:r>
                      <a:endParaRPr lang="en-US" sz="1400" dirty="0">
                        <a:latin typeface="Times New Roman" pitchFamily="18" charset="0"/>
                        <a:cs typeface="Times New Roman" pitchFamily="18" charset="0"/>
                      </a:endParaRPr>
                    </a:p>
                  </a:txBody>
                  <a:tcPr/>
                </a:tc>
                <a:tc>
                  <a:txBody>
                    <a:bodyPr/>
                    <a:lstStyle/>
                    <a:p>
                      <a:pPr algn="l">
                        <a:lnSpc>
                          <a:spcPct val="150000"/>
                        </a:lnSpc>
                        <a:spcAft>
                          <a:spcPts val="0"/>
                        </a:spcAft>
                      </a:pPr>
                      <a:r>
                        <a:rPr lang="en-GB" sz="1400" dirty="0" smtClean="0">
                          <a:effectLst/>
                          <a:latin typeface="Times New Roman" panose="02020603050405020304" pitchFamily="18" charset="0"/>
                          <a:ea typeface="Times New Roman" panose="02020603050405020304" pitchFamily="18" charset="0"/>
                        </a:rPr>
                        <a:t>Research focuses primarily on the Sri Lankan context.</a:t>
                      </a:r>
                      <a:endParaRPr lang="en-GB" sz="1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823044">
                <a:tc>
                  <a:txBody>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8.</a:t>
                      </a:r>
                      <a:endParaRPr lang="en-US" dirty="0">
                        <a:latin typeface="Times New Roman" pitchFamily="18" charset="0"/>
                        <a:cs typeface="Times New Roman" pitchFamily="18" charset="0"/>
                      </a:endParaRPr>
                    </a:p>
                  </a:txBody>
                  <a:tcPr/>
                </a:tc>
                <a:tc>
                  <a:txBody>
                    <a:bodyPr/>
                    <a:lstStyle/>
                    <a:p>
                      <a:r>
                        <a:rPr lang="en-GB" sz="1400" kern="1200" dirty="0" smtClean="0">
                          <a:solidFill>
                            <a:schemeClr val="dk1"/>
                          </a:solidFill>
                          <a:effectLst/>
                          <a:latin typeface="Times New Roman" panose="02020603050405020304" pitchFamily="18" charset="0"/>
                          <a:ea typeface="+mn-ea"/>
                          <a:cs typeface="Times New Roman" panose="02020603050405020304" pitchFamily="18" charset="0"/>
                        </a:rPr>
                        <a:t>Multi-agent model-based deep reinforcement</a:t>
                      </a:r>
                    </a:p>
                    <a:p>
                      <a:r>
                        <a:rPr lang="en-GB" sz="1400" kern="1200" dirty="0" smtClean="0">
                          <a:solidFill>
                            <a:schemeClr val="dk1"/>
                          </a:solidFill>
                          <a:effectLst/>
                          <a:latin typeface="Times New Roman" panose="02020603050405020304" pitchFamily="18" charset="0"/>
                          <a:ea typeface="+mn-ea"/>
                          <a:cs typeface="Times New Roman" panose="02020603050405020304" pitchFamily="18" charset="0"/>
                        </a:rPr>
                        <a:t>learning: testing the method in grid-world</a:t>
                      </a:r>
                    </a:p>
                    <a:p>
                      <a:r>
                        <a:rPr lang="en-GB" sz="1400" kern="1200" dirty="0" smtClean="0">
                          <a:solidFill>
                            <a:schemeClr val="dk1"/>
                          </a:solidFill>
                          <a:effectLst/>
                          <a:latin typeface="Times New Roman" panose="02020603050405020304" pitchFamily="18" charset="0"/>
                          <a:ea typeface="+mn-ea"/>
                          <a:cs typeface="Times New Roman" panose="02020603050405020304" pitchFamily="18" charset="0"/>
                        </a:rPr>
                        <a:t>environments</a:t>
                      </a:r>
                      <a:endParaRPr lang="en-GB"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400" dirty="0" err="1" smtClean="0">
                          <a:latin typeface="Times New Roman" panose="02020603050405020304" pitchFamily="18" charset="0"/>
                          <a:ea typeface="Times New Roman"/>
                          <a:cs typeface="Times New Roman" panose="02020603050405020304" pitchFamily="18" charset="0"/>
                        </a:rPr>
                        <a:t>Vladamir</a:t>
                      </a:r>
                      <a:r>
                        <a:rPr lang="en-US" sz="1400" dirty="0" smtClean="0">
                          <a:latin typeface="Times New Roman" panose="02020603050405020304" pitchFamily="18" charset="0"/>
                          <a:ea typeface="Times New Roman"/>
                          <a:cs typeface="Times New Roman" panose="02020603050405020304" pitchFamily="18" charset="0"/>
                        </a:rPr>
                        <a:t> v </a:t>
                      </a:r>
                      <a:r>
                        <a:rPr lang="en-US" sz="1400" dirty="0" err="1" smtClean="0">
                          <a:latin typeface="Times New Roman" panose="02020603050405020304" pitchFamily="18" charset="0"/>
                          <a:ea typeface="Times New Roman"/>
                          <a:cs typeface="Times New Roman" panose="02020603050405020304" pitchFamily="18" charset="0"/>
                        </a:rPr>
                        <a:t>bazhenov</a:t>
                      </a:r>
                      <a:r>
                        <a:rPr lang="en-US" sz="1400" dirty="0" smtClean="0">
                          <a:latin typeface="Times New Roman" panose="02020603050405020304" pitchFamily="18" charset="0"/>
                          <a:ea typeface="Times New Roman"/>
                          <a:cs typeface="Times New Roman" panose="02020603050405020304" pitchFamily="18" charset="0"/>
                        </a:rPr>
                        <a:t> </a:t>
                      </a:r>
                      <a:endParaRPr lang="en-US" sz="1400" dirty="0">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r>
                        <a:rPr lang="en-US" sz="1400" kern="1200" dirty="0" smtClean="0">
                          <a:solidFill>
                            <a:schemeClr val="dk1"/>
                          </a:solidFill>
                          <a:effectLst/>
                          <a:latin typeface="Times New Roman" panose="02020603050405020304" pitchFamily="18" charset="0"/>
                          <a:ea typeface="+mn-ea"/>
                          <a:cs typeface="Times New Roman" panose="02020603050405020304" pitchFamily="18" charset="0"/>
                        </a:rPr>
                        <a:t>multi-agent model-based reinforcement learning method resolves social dilemmas within world movement simulations.</a:t>
                      </a:r>
                      <a:endParaRPr lang="en-US" sz="1100" dirty="0">
                        <a:latin typeface="Times New Roman" pitchFamily="18" charset="0"/>
                        <a:cs typeface="Times New Roman" pitchFamily="18" charset="0"/>
                      </a:endParaRPr>
                    </a:p>
                  </a:txBody>
                  <a:tcPr/>
                </a:tc>
                <a:tc>
                  <a:txBody>
                    <a:bodyPr/>
                    <a:lstStyle/>
                    <a:p>
                      <a:r>
                        <a:rPr lang="en-US" sz="1400" kern="1200" dirty="0" smtClean="0">
                          <a:solidFill>
                            <a:schemeClr val="dk1"/>
                          </a:solidFill>
                          <a:effectLst/>
                          <a:latin typeface="Times New Roman" panose="02020603050405020304" pitchFamily="18" charset="0"/>
                          <a:ea typeface="+mn-ea"/>
                          <a:cs typeface="Times New Roman" panose="02020603050405020304" pitchFamily="18" charset="0"/>
                        </a:rPr>
                        <a:t>Demonstrates superior multi-agent cooperation and social dilemma resolution in grid-worlds.</a:t>
                      </a:r>
                      <a:endParaRPr lang="en-US" sz="1100" dirty="0">
                        <a:latin typeface="Times New Roman" pitchFamily="18" charset="0"/>
                        <a:cs typeface="Times New Roman" pitchFamily="18" charset="0"/>
                      </a:endParaRPr>
                    </a:p>
                  </a:txBody>
                  <a:tcPr/>
                </a:tc>
                <a:tc>
                  <a:txBody>
                    <a:bodyPr/>
                    <a:lstStyle/>
                    <a:p>
                      <a:r>
                        <a:rPr lang="en-GB" sz="1400" dirty="0" smtClean="0">
                          <a:latin typeface="Times New Roman" pitchFamily="18" charset="0"/>
                          <a:cs typeface="Times New Roman" pitchFamily="18" charset="0"/>
                        </a:rPr>
                        <a:t>Evaluation is limited to simplified, discrete grid-based simulation environments</a:t>
                      </a:r>
                      <a:endParaRPr lang="en-US" sz="14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bl>
          </a:graphicData>
        </a:graphic>
      </p:graphicFrame>
      <p:sp>
        <p:nvSpPr>
          <p:cNvPr id="5" name="Title 1"/>
          <p:cNvSpPr txBox="1">
            <a:spLocks/>
          </p:cNvSpPr>
          <p:nvPr/>
        </p:nvSpPr>
        <p:spPr>
          <a:xfrm>
            <a:off x="0" y="0"/>
            <a:ext cx="10540365" cy="1011555"/>
          </a:xfrm>
          <a:prstGeom prst="rect">
            <a:avLst/>
          </a:prstGeom>
          <a:solidFill>
            <a:srgbClr val="002060"/>
          </a:solidFill>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chemeClr val="bg1"/>
                </a:solidFill>
                <a:latin typeface="Times New Roman" panose="02020603050405020304" pitchFamily="18" charset="0"/>
                <a:cs typeface="Times New Roman" panose="02020603050405020304" pitchFamily="18" charset="0"/>
              </a:rPr>
              <a:t>Literature Review</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6" name="Content Placeholder 101"/>
          <p:cNvPicPr>
            <a:picLocks noChangeAspect="1"/>
          </p:cNvPicPr>
          <p:nvPr/>
        </p:nvPicPr>
        <p:blipFill>
          <a:blip r:embed="rId2"/>
          <a:stretch>
            <a:fillRect/>
          </a:stretch>
        </p:blipFill>
        <p:spPr>
          <a:xfrm>
            <a:off x="10541000" y="0"/>
            <a:ext cx="1505585" cy="1011555"/>
          </a:xfrm>
          <a:prstGeom prst="rect">
            <a:avLst/>
          </a:prstGeom>
          <a:noFill/>
          <a:ln w="9525">
            <a:noFill/>
          </a:ln>
        </p:spPr>
      </p:pic>
    </p:spTree>
    <p:extLst>
      <p:ext uri="{BB962C8B-B14F-4D97-AF65-F5344CB8AC3E}">
        <p14:creationId xmlns:p14="http://schemas.microsoft.com/office/powerpoint/2010/main" val="1869110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966959" cy="982104"/>
          </a:xfrm>
          <a:solidFill>
            <a:srgbClr val="002060"/>
          </a:solidFill>
        </p:spPr>
        <p:txBody>
          <a:bodyPr/>
          <a:lstStyle/>
          <a:p>
            <a:pPr>
              <a:lnSpc>
                <a:spcPct val="100000"/>
              </a:lnSpc>
            </a:pPr>
            <a:r>
              <a:rPr lang="en-IN" b="1" dirty="0" smtClean="0">
                <a:ln>
                  <a:solidFill>
                    <a:schemeClr val="bg1"/>
                  </a:solidFill>
                </a:ln>
                <a:solidFill>
                  <a:schemeClr val="bg1"/>
                </a:solidFill>
                <a:latin typeface="Times New Roman" panose="02020603050405020304" pitchFamily="18" charset="0"/>
                <a:cs typeface="Times New Roman" panose="02020603050405020304" pitchFamily="18" charset="0"/>
              </a:rPr>
              <a:t>Methodology </a:t>
            </a:r>
            <a:endParaRPr lang="en-IN" b="1"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0" y="6538912"/>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Dept. of </a:t>
            </a:r>
            <a:r>
              <a:rPr lang="en-US" altLang="en-IN" dirty="0">
                <a:ln>
                  <a:solidFill>
                    <a:schemeClr val="bg1"/>
                  </a:solidFill>
                </a:ln>
                <a:solidFill>
                  <a:schemeClr val="bg1"/>
                </a:solidFill>
              </a:rPr>
              <a:t>AI&amp;ML, RRCE</a:t>
            </a:r>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pPr/>
              <a:t>7</a:t>
            </a:fld>
            <a:endParaRPr lang="en-IN" dirty="0">
              <a:ln>
                <a:solidFill>
                  <a:schemeClr val="bg1"/>
                </a:solidFill>
              </a:ln>
              <a:solidFill>
                <a:schemeClr val="bg1"/>
              </a:solidFill>
            </a:endParaRPr>
          </a:p>
        </p:txBody>
      </p:sp>
      <p:pic>
        <p:nvPicPr>
          <p:cNvPr id="103" name="Picture 102"/>
          <p:cNvPicPr/>
          <p:nvPr/>
        </p:nvPicPr>
        <p:blipFill>
          <a:blip r:embed="rId2"/>
          <a:stretch>
            <a:fillRect/>
          </a:stretch>
        </p:blipFill>
        <p:spPr>
          <a:xfrm>
            <a:off x="10168255" y="-635"/>
            <a:ext cx="1455420" cy="1136650"/>
          </a:xfrm>
          <a:prstGeom prst="rect">
            <a:avLst/>
          </a:prstGeom>
          <a:noFill/>
          <a:ln w="9525">
            <a:noFill/>
          </a:ln>
        </p:spPr>
      </p:pic>
      <p:sp>
        <p:nvSpPr>
          <p:cNvPr id="5" name="Rectangle 2">
            <a:extLst>
              <a:ext uri="{FF2B5EF4-FFF2-40B4-BE49-F238E27FC236}">
                <a16:creationId xmlns:a16="http://schemas.microsoft.com/office/drawing/2014/main" id="{E9B8E96A-AA96-1F31-B73D-11657FA635B5}"/>
              </a:ext>
            </a:extLst>
          </p:cNvPr>
          <p:cNvSpPr>
            <a:spLocks noChangeArrowheads="1"/>
          </p:cNvSpPr>
          <p:nvPr/>
        </p:nvSpPr>
        <p:spPr bwMode="auto">
          <a:xfrm>
            <a:off x="261256" y="1213002"/>
            <a:ext cx="10035269" cy="417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ounded Rectangle 3"/>
          <p:cNvSpPr/>
          <p:nvPr/>
        </p:nvSpPr>
        <p:spPr>
          <a:xfrm>
            <a:off x="263314" y="4722274"/>
            <a:ext cx="3131388" cy="11904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Policy-Based Deployment Management</a:t>
            </a:r>
          </a:p>
        </p:txBody>
      </p:sp>
      <p:sp>
        <p:nvSpPr>
          <p:cNvPr id="9" name="Rounded Rectangle 8"/>
          <p:cNvSpPr/>
          <p:nvPr/>
        </p:nvSpPr>
        <p:spPr>
          <a:xfrm>
            <a:off x="261256" y="1895085"/>
            <a:ext cx="3131388" cy="11904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tx1"/>
                </a:solidFill>
              </a:rPr>
              <a:t>Requirement </a:t>
            </a:r>
            <a:r>
              <a:rPr lang="en-GB" sz="2000" dirty="0" smtClean="0">
                <a:solidFill>
                  <a:schemeClr val="tx1"/>
                </a:solidFill>
              </a:rPr>
              <a:t>Analysis</a:t>
            </a:r>
            <a:endParaRPr lang="en-GB" sz="2000" dirty="0">
              <a:solidFill>
                <a:schemeClr val="tx1"/>
              </a:solidFill>
            </a:endParaRPr>
          </a:p>
        </p:txBody>
      </p:sp>
      <p:sp>
        <p:nvSpPr>
          <p:cNvPr id="10" name="Rounded Rectangle 9"/>
          <p:cNvSpPr/>
          <p:nvPr/>
        </p:nvSpPr>
        <p:spPr>
          <a:xfrm>
            <a:off x="4580421" y="1895085"/>
            <a:ext cx="3131388" cy="11904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Topology Discovery and Monitoring</a:t>
            </a:r>
          </a:p>
        </p:txBody>
      </p:sp>
      <p:sp>
        <p:nvSpPr>
          <p:cNvPr id="12" name="Rounded Rectangle 11"/>
          <p:cNvSpPr/>
          <p:nvPr/>
        </p:nvSpPr>
        <p:spPr>
          <a:xfrm>
            <a:off x="4580421" y="4722274"/>
            <a:ext cx="3131388" cy="11904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Multi-Cloud Resource Allocation</a:t>
            </a:r>
          </a:p>
        </p:txBody>
      </p:sp>
      <p:sp>
        <p:nvSpPr>
          <p:cNvPr id="13" name="Rounded Rectangle 12"/>
          <p:cNvSpPr/>
          <p:nvPr/>
        </p:nvSpPr>
        <p:spPr>
          <a:xfrm>
            <a:off x="8899586" y="1895087"/>
            <a:ext cx="3131388" cy="11904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Visualization Dashboard</a:t>
            </a:r>
          </a:p>
        </p:txBody>
      </p:sp>
      <p:sp>
        <p:nvSpPr>
          <p:cNvPr id="6" name="Down Arrow 5"/>
          <p:cNvSpPr/>
          <p:nvPr/>
        </p:nvSpPr>
        <p:spPr>
          <a:xfrm>
            <a:off x="1561381" y="3467819"/>
            <a:ext cx="439947" cy="983411"/>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own Arrow 13"/>
          <p:cNvSpPr/>
          <p:nvPr/>
        </p:nvSpPr>
        <p:spPr>
          <a:xfrm rot="10800000">
            <a:off x="5926141" y="3463567"/>
            <a:ext cx="439947" cy="983411"/>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Down Arrow 14"/>
          <p:cNvSpPr/>
          <p:nvPr/>
        </p:nvSpPr>
        <p:spPr>
          <a:xfrm rot="16200000">
            <a:off x="3764041" y="4971722"/>
            <a:ext cx="439947" cy="664112"/>
          </a:xfrm>
          <a:prstGeom prst="downArrow">
            <a:avLst>
              <a:gd name="adj1" fmla="val 26471"/>
              <a:gd name="adj2" fmla="val 4019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Down Arrow 15"/>
          <p:cNvSpPr/>
          <p:nvPr/>
        </p:nvSpPr>
        <p:spPr>
          <a:xfrm rot="16200000">
            <a:off x="8062708" y="2158250"/>
            <a:ext cx="439947" cy="664112"/>
          </a:xfrm>
          <a:prstGeom prst="downArrow">
            <a:avLst>
              <a:gd name="adj1" fmla="val 26471"/>
              <a:gd name="adj2" fmla="val 4019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980296" y="1886475"/>
          <a:ext cx="9621793" cy="3641120"/>
        </p:xfrm>
        <a:graphic>
          <a:graphicData uri="http://schemas.openxmlformats.org/drawingml/2006/table">
            <a:tbl>
              <a:tblPr firstRow="1" bandRow="1">
                <a:tableStyleId>{5C22544A-7EE6-4342-B048-85BDC9FD1C3A}</a:tableStyleId>
              </a:tblPr>
              <a:tblGrid>
                <a:gridCol w="4780746">
                  <a:extLst>
                    <a:ext uri="{9D8B030D-6E8A-4147-A177-3AD203B41FA5}">
                      <a16:colId xmlns:a16="http://schemas.microsoft.com/office/drawing/2014/main" val="20000"/>
                    </a:ext>
                  </a:extLst>
                </a:gridCol>
                <a:gridCol w="4841047">
                  <a:extLst>
                    <a:ext uri="{9D8B030D-6E8A-4147-A177-3AD203B41FA5}">
                      <a16:colId xmlns:a16="http://schemas.microsoft.com/office/drawing/2014/main" val="20001"/>
                    </a:ext>
                  </a:extLst>
                </a:gridCol>
              </a:tblGrid>
              <a:tr h="455140">
                <a:tc>
                  <a:txBody>
                    <a:bodyPr/>
                    <a:lstStyle/>
                    <a:p>
                      <a:r>
                        <a:rPr lang="en-US" dirty="0" smtClean="0"/>
                        <a:t>TOOL</a:t>
                      </a:r>
                      <a:endParaRPr lang="en-US" dirty="0"/>
                    </a:p>
                  </a:txBody>
                  <a:tcPr/>
                </a:tc>
                <a:tc>
                  <a:txBody>
                    <a:bodyPr/>
                    <a:lstStyle/>
                    <a:p>
                      <a:r>
                        <a:rPr lang="en-US" dirty="0" smtClean="0"/>
                        <a:t>Purpose</a:t>
                      </a:r>
                      <a:endParaRPr lang="en-US" dirty="0"/>
                    </a:p>
                  </a:txBody>
                  <a:tcPr/>
                </a:tc>
                <a:extLst>
                  <a:ext uri="{0D108BD9-81ED-4DB2-BD59-A6C34878D82A}">
                    <a16:rowId xmlns:a16="http://schemas.microsoft.com/office/drawing/2014/main" val="10000"/>
                  </a:ext>
                </a:extLst>
              </a:tr>
              <a:tr h="455140">
                <a:tc>
                  <a:txBody>
                    <a:bodyPr/>
                    <a:lstStyle/>
                    <a:p>
                      <a:r>
                        <a:rPr lang="en-US" dirty="0" smtClean="0"/>
                        <a:t>Python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anose="02020603050405020304" pitchFamily="18" charset="0"/>
                          <a:cs typeface="Times New Roman" panose="02020603050405020304" pitchFamily="18" charset="0"/>
                        </a:rPr>
                        <a:t>Backend development and policy engine</a:t>
                      </a:r>
                    </a:p>
                  </a:txBody>
                  <a:tcPr/>
                </a:tc>
                <a:extLst>
                  <a:ext uri="{0D108BD9-81ED-4DB2-BD59-A6C34878D82A}">
                    <a16:rowId xmlns:a16="http://schemas.microsoft.com/office/drawing/2014/main" val="10001"/>
                  </a:ext>
                </a:extLst>
              </a:tr>
              <a:tr h="455140">
                <a:tc>
                  <a:txBody>
                    <a:bodyPr/>
                    <a:lstStyle/>
                    <a:p>
                      <a:r>
                        <a:rPr lang="en-US" dirty="0" err="1" smtClean="0"/>
                        <a:t>Docker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anose="02020603050405020304" pitchFamily="18" charset="0"/>
                          <a:cs typeface="Times New Roman" panose="02020603050405020304" pitchFamily="18" charset="0"/>
                        </a:rPr>
                        <a:t>Containerization</a:t>
                      </a:r>
                    </a:p>
                  </a:txBody>
                  <a:tcPr/>
                </a:tc>
                <a:extLst>
                  <a:ext uri="{0D108BD9-81ED-4DB2-BD59-A6C34878D82A}">
                    <a16:rowId xmlns:a16="http://schemas.microsoft.com/office/drawing/2014/main" val="10002"/>
                  </a:ext>
                </a:extLst>
              </a:tr>
              <a:tr h="455140">
                <a:tc>
                  <a:txBody>
                    <a:bodyPr/>
                    <a:lstStyle/>
                    <a:p>
                      <a:r>
                        <a:rPr lang="en-US" dirty="0" err="1" smtClean="0"/>
                        <a:t>Kubernets</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anose="02020603050405020304" pitchFamily="18" charset="0"/>
                          <a:cs typeface="Times New Roman" panose="02020603050405020304" pitchFamily="18" charset="0"/>
                        </a:rPr>
                        <a:t>Deployment and Orchestration</a:t>
                      </a:r>
                    </a:p>
                  </a:txBody>
                  <a:tcPr/>
                </a:tc>
                <a:extLst>
                  <a:ext uri="{0D108BD9-81ED-4DB2-BD59-A6C34878D82A}">
                    <a16:rowId xmlns:a16="http://schemas.microsoft.com/office/drawing/2014/main" val="10003"/>
                  </a:ext>
                </a:extLst>
              </a:tr>
              <a:tr h="455140">
                <a:tc>
                  <a:txBody>
                    <a:bodyPr/>
                    <a:lstStyle/>
                    <a:p>
                      <a:r>
                        <a:rPr lang="en-US" dirty="0" err="1" smtClean="0"/>
                        <a:t>Kuberflow</a:t>
                      </a:r>
                      <a:endParaRPr lang="en-US" dirty="0"/>
                    </a:p>
                  </a:txBody>
                  <a:tcPr/>
                </a:tc>
                <a:tc>
                  <a:txBody>
                    <a:bodyPr/>
                    <a:lstStyle/>
                    <a:p>
                      <a:r>
                        <a:rPr lang="en-IN" sz="1800" dirty="0" smtClean="0">
                          <a:latin typeface="Times New Roman" panose="02020603050405020304" pitchFamily="18" charset="0"/>
                          <a:cs typeface="Times New Roman" panose="02020603050405020304" pitchFamily="18" charset="0"/>
                        </a:rPr>
                        <a:t>ML Workflow Management</a:t>
                      </a:r>
                      <a:endParaRPr lang="en-US" dirty="0"/>
                    </a:p>
                  </a:txBody>
                  <a:tcPr/>
                </a:tc>
                <a:extLst>
                  <a:ext uri="{0D108BD9-81ED-4DB2-BD59-A6C34878D82A}">
                    <a16:rowId xmlns:a16="http://schemas.microsoft.com/office/drawing/2014/main" val="10004"/>
                  </a:ext>
                </a:extLst>
              </a:tr>
              <a:tr h="455140">
                <a:tc>
                  <a:txBody>
                    <a:bodyPr/>
                    <a:lstStyle/>
                    <a:p>
                      <a:r>
                        <a:rPr lang="en-US" dirty="0" smtClean="0"/>
                        <a:t>Kafka</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anose="02020603050405020304" pitchFamily="18" charset="0"/>
                          <a:cs typeface="Times New Roman" panose="02020603050405020304" pitchFamily="18" charset="0"/>
                        </a:rPr>
                        <a:t>Data Streaming</a:t>
                      </a:r>
                    </a:p>
                  </a:txBody>
                  <a:tcPr/>
                </a:tc>
                <a:extLst>
                  <a:ext uri="{0D108BD9-81ED-4DB2-BD59-A6C34878D82A}">
                    <a16:rowId xmlns:a16="http://schemas.microsoft.com/office/drawing/2014/main" val="10005"/>
                  </a:ext>
                </a:extLst>
              </a:tr>
              <a:tr h="455140">
                <a:tc>
                  <a:txBody>
                    <a:bodyPr/>
                    <a:lstStyle/>
                    <a:p>
                      <a:r>
                        <a:rPr lang="en-US" dirty="0" err="1" smtClean="0"/>
                        <a:t>Mongodb</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anose="02020603050405020304" pitchFamily="18" charset="0"/>
                          <a:cs typeface="Times New Roman" panose="02020603050405020304" pitchFamily="18" charset="0"/>
                        </a:rPr>
                        <a:t>Data Storage</a:t>
                      </a:r>
                    </a:p>
                  </a:txBody>
                  <a:tcPr/>
                </a:tc>
                <a:extLst>
                  <a:ext uri="{0D108BD9-81ED-4DB2-BD59-A6C34878D82A}">
                    <a16:rowId xmlns:a16="http://schemas.microsoft.com/office/drawing/2014/main" val="10006"/>
                  </a:ext>
                </a:extLst>
              </a:tr>
              <a:tr h="455140">
                <a:tc>
                  <a:txBody>
                    <a:bodyPr/>
                    <a:lstStyle/>
                    <a:p>
                      <a:r>
                        <a:rPr lang="en-US" dirty="0" smtClean="0"/>
                        <a:t>D3.js</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anose="02020603050405020304" pitchFamily="18" charset="0"/>
                          <a:cs typeface="Times New Roman" panose="02020603050405020304" pitchFamily="18" charset="0"/>
                        </a:rPr>
                        <a:t>Visualization Dashboard</a:t>
                      </a:r>
                    </a:p>
                  </a:txBody>
                  <a:tcPr/>
                </a:tc>
                <a:extLst>
                  <a:ext uri="{0D108BD9-81ED-4DB2-BD59-A6C34878D82A}">
                    <a16:rowId xmlns:a16="http://schemas.microsoft.com/office/drawing/2014/main" val="10007"/>
                  </a:ext>
                </a:extLst>
              </a:tr>
            </a:tbl>
          </a:graphicData>
        </a:graphic>
      </p:graphicFrame>
      <p:sp>
        <p:nvSpPr>
          <p:cNvPr id="4" name="Title 1"/>
          <p:cNvSpPr>
            <a:spLocks noGrp="1"/>
          </p:cNvSpPr>
          <p:nvPr>
            <p:ph type="title"/>
          </p:nvPr>
        </p:nvSpPr>
        <p:spPr>
          <a:xfrm>
            <a:off x="4" y="0"/>
            <a:ext cx="10791568" cy="1046206"/>
          </a:xfrm>
          <a:solidFill>
            <a:srgbClr val="002060"/>
          </a:solidFill>
        </p:spPr>
        <p:txBody>
          <a:bodyPr/>
          <a:lstStyle/>
          <a:p>
            <a:pPr>
              <a:lnSpc>
                <a:spcPct val="100000"/>
              </a:lnSpc>
            </a:pPr>
            <a:r>
              <a:rPr lang="en-IN" b="1" dirty="0" smtClean="0">
                <a:ln>
                  <a:solidFill>
                    <a:schemeClr val="bg1"/>
                  </a:solidFill>
                </a:ln>
                <a:solidFill>
                  <a:schemeClr val="bg1"/>
                </a:solidFill>
                <a:latin typeface="Times New Roman" panose="02020603050405020304" pitchFamily="18" charset="0"/>
                <a:cs typeface="Times New Roman" panose="02020603050405020304" pitchFamily="18" charset="0"/>
              </a:rPr>
              <a:t>Facilities Required for Proposed work </a:t>
            </a:r>
            <a:endParaRPr lang="en-IN" b="1"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0654289" y="0"/>
            <a:ext cx="1455420" cy="113665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964" y="1809149"/>
            <a:ext cx="10515600" cy="4351338"/>
          </a:xfrm>
        </p:spPr>
        <p:txBody>
          <a:bodyPr>
            <a:normAutofit/>
          </a:bodyPr>
          <a:lstStyle/>
          <a:p>
            <a:pPr algn="just">
              <a:lnSpc>
                <a:spcPct val="150000"/>
              </a:lnSpc>
            </a:pPr>
            <a:r>
              <a:rPr lang="en-US" sz="1800" dirty="0" smtClean="0">
                <a:latin typeface="Times New Roman" pitchFamily="18" charset="0"/>
                <a:cs typeface="Times New Roman" pitchFamily="18" charset="0"/>
              </a:rPr>
              <a:t>Automated ML model deployment across clusters  </a:t>
            </a:r>
          </a:p>
          <a:p>
            <a:pPr algn="just">
              <a:lnSpc>
                <a:spcPct val="150000"/>
              </a:lnSpc>
            </a:pPr>
            <a:r>
              <a:rPr lang="en-US" sz="1800" dirty="0" smtClean="0">
                <a:latin typeface="Times New Roman" pitchFamily="18" charset="0"/>
                <a:cs typeface="Times New Roman" pitchFamily="18" charset="0"/>
              </a:rPr>
              <a:t>Efficient </a:t>
            </a:r>
            <a:r>
              <a:rPr lang="en-US" sz="1800" dirty="0" smtClean="0">
                <a:latin typeface="Times New Roman" pitchFamily="18" charset="0"/>
                <a:cs typeface="Times New Roman" pitchFamily="18" charset="0"/>
              </a:rPr>
              <a:t>multi-cloud resource utilization  </a:t>
            </a:r>
          </a:p>
          <a:p>
            <a:pPr algn="just">
              <a:lnSpc>
                <a:spcPct val="150000"/>
              </a:lnSpc>
            </a:pPr>
            <a:r>
              <a:rPr lang="en-US" sz="1800" dirty="0" smtClean="0">
                <a:latin typeface="Times New Roman" pitchFamily="18" charset="0"/>
                <a:cs typeface="Times New Roman" pitchFamily="18" charset="0"/>
              </a:rPr>
              <a:t>Reduced </a:t>
            </a:r>
            <a:r>
              <a:rPr lang="en-US" sz="1800" dirty="0" smtClean="0">
                <a:latin typeface="Times New Roman" pitchFamily="18" charset="0"/>
                <a:cs typeface="Times New Roman" pitchFamily="18" charset="0"/>
              </a:rPr>
              <a:t>deployment time using containerization  </a:t>
            </a:r>
          </a:p>
          <a:p>
            <a:pPr algn="just">
              <a:lnSpc>
                <a:spcPct val="150000"/>
              </a:lnSpc>
            </a:pPr>
            <a:r>
              <a:rPr lang="en-US" sz="1800" dirty="0" smtClean="0">
                <a:latin typeface="Times New Roman" pitchFamily="18" charset="0"/>
                <a:cs typeface="Times New Roman" pitchFamily="18" charset="0"/>
              </a:rPr>
              <a:t>Scalable </a:t>
            </a:r>
            <a:r>
              <a:rPr lang="en-US" sz="1800" dirty="0" smtClean="0">
                <a:latin typeface="Times New Roman" pitchFamily="18" charset="0"/>
                <a:cs typeface="Times New Roman" pitchFamily="18" charset="0"/>
              </a:rPr>
              <a:t>inference system with auto-scaling  </a:t>
            </a:r>
          </a:p>
          <a:p>
            <a:pPr algn="just">
              <a:lnSpc>
                <a:spcPct val="150000"/>
              </a:lnSpc>
            </a:pPr>
            <a:r>
              <a:rPr lang="en-US" sz="1800" dirty="0" smtClean="0">
                <a:latin typeface="Times New Roman" pitchFamily="18" charset="0"/>
                <a:cs typeface="Times New Roman" pitchFamily="18" charset="0"/>
              </a:rPr>
              <a:t>Real-time </a:t>
            </a:r>
            <a:r>
              <a:rPr lang="en-US" sz="1800" dirty="0" smtClean="0">
                <a:latin typeface="Times New Roman" pitchFamily="18" charset="0"/>
                <a:cs typeface="Times New Roman" pitchFamily="18" charset="0"/>
              </a:rPr>
              <a:t>monitoring and visualization  </a:t>
            </a:r>
          </a:p>
          <a:p>
            <a:pPr algn="just">
              <a:lnSpc>
                <a:spcPct val="150000"/>
              </a:lnSpc>
            </a:pPr>
            <a:r>
              <a:rPr lang="en-US" sz="1800" dirty="0" smtClean="0">
                <a:latin typeface="Times New Roman" pitchFamily="18" charset="0"/>
                <a:cs typeface="Times New Roman" pitchFamily="18" charset="0"/>
              </a:rPr>
              <a:t>Intelligent </a:t>
            </a:r>
            <a:r>
              <a:rPr lang="en-US" sz="1800" dirty="0" smtClean="0">
                <a:latin typeface="Times New Roman" pitchFamily="18" charset="0"/>
                <a:cs typeface="Times New Roman" pitchFamily="18" charset="0"/>
              </a:rPr>
              <a:t>policy-based resource allocation  </a:t>
            </a:r>
          </a:p>
          <a:p>
            <a:pPr algn="just">
              <a:lnSpc>
                <a:spcPct val="150000"/>
              </a:lnSpc>
            </a:pPr>
            <a:r>
              <a:rPr lang="en-US" sz="1800" dirty="0" smtClean="0">
                <a:latin typeface="Times New Roman" pitchFamily="18" charset="0"/>
                <a:cs typeface="Times New Roman" pitchFamily="18" charset="0"/>
              </a:rPr>
              <a:t>Cost-efficient </a:t>
            </a:r>
            <a:r>
              <a:rPr lang="en-US" sz="1800" dirty="0" smtClean="0">
                <a:latin typeface="Times New Roman" pitchFamily="18" charset="0"/>
                <a:cs typeface="Times New Roman" pitchFamily="18" charset="0"/>
              </a:rPr>
              <a:t>hybrid cloud architecture  </a:t>
            </a:r>
          </a:p>
          <a:p>
            <a:pPr algn="just">
              <a:lnSpc>
                <a:spcPct val="150000"/>
              </a:lnSpc>
            </a:pPr>
            <a:r>
              <a:rPr lang="en-US" sz="1800" dirty="0" smtClean="0">
                <a:latin typeface="Times New Roman" pitchFamily="18" charset="0"/>
                <a:cs typeface="Times New Roman" pitchFamily="18" charset="0"/>
              </a:rPr>
              <a:t>Complete </a:t>
            </a:r>
            <a:r>
              <a:rPr lang="en-US" sz="1800" dirty="0" smtClean="0">
                <a:latin typeface="Times New Roman" pitchFamily="18" charset="0"/>
                <a:cs typeface="Times New Roman" pitchFamily="18" charset="0"/>
              </a:rPr>
              <a:t>end-to-end </a:t>
            </a:r>
            <a:r>
              <a:rPr lang="en-US" sz="1800" dirty="0" err="1" smtClean="0">
                <a:latin typeface="Times New Roman" pitchFamily="18" charset="0"/>
                <a:cs typeface="Times New Roman" pitchFamily="18" charset="0"/>
              </a:rPr>
              <a:t>MLOps</a:t>
            </a:r>
            <a:r>
              <a:rPr lang="en-US" sz="1800" dirty="0" smtClean="0">
                <a:latin typeface="Times New Roman" pitchFamily="18" charset="0"/>
                <a:cs typeface="Times New Roman" pitchFamily="18" charset="0"/>
              </a:rPr>
              <a:t> pipeline</a:t>
            </a:r>
            <a:endParaRPr lang="en-US" sz="1800" dirty="0">
              <a:latin typeface="Times New Roman" pitchFamily="18" charset="0"/>
              <a:cs typeface="Times New Roman" pitchFamily="18" charset="0"/>
            </a:endParaRPr>
          </a:p>
        </p:txBody>
      </p:sp>
      <p:sp>
        <p:nvSpPr>
          <p:cNvPr id="4" name="Title 1"/>
          <p:cNvSpPr>
            <a:spLocks noGrp="1"/>
          </p:cNvSpPr>
          <p:nvPr>
            <p:ph type="title"/>
          </p:nvPr>
        </p:nvSpPr>
        <p:spPr>
          <a:xfrm>
            <a:off x="-2076" y="2654"/>
            <a:ext cx="10515600" cy="1125930"/>
          </a:xfrm>
          <a:solidFill>
            <a:srgbClr val="002060"/>
          </a:solidFill>
        </p:spPr>
        <p:txBody>
          <a:bodyPr/>
          <a:lstStyle/>
          <a:p>
            <a:pPr>
              <a:lnSpc>
                <a:spcPct val="100000"/>
              </a:lnSpc>
            </a:pPr>
            <a:r>
              <a:rPr lang="en-IN" b="1" dirty="0" smtClean="0">
                <a:ln>
                  <a:solidFill>
                    <a:schemeClr val="bg1"/>
                  </a:solidFill>
                </a:ln>
                <a:solidFill>
                  <a:schemeClr val="bg1"/>
                </a:solidFill>
                <a:latin typeface="Times New Roman" panose="02020603050405020304" pitchFamily="18" charset="0"/>
                <a:cs typeface="Times New Roman" panose="02020603050405020304" pitchFamily="18" charset="0"/>
              </a:rPr>
              <a:t>Expected Outcomes </a:t>
            </a:r>
            <a:endParaRPr lang="en-IN" b="1"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0629575" y="0"/>
            <a:ext cx="1455420" cy="113665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252" y="1463152"/>
            <a:ext cx="10515600" cy="4773745"/>
          </a:xfrm>
        </p:spPr>
        <p:txBody>
          <a:bodyPr>
            <a:noAutofit/>
          </a:bodyPr>
          <a:lstStyle/>
          <a:p>
            <a:pPr marL="0" lvl="0" indent="0" eaLnBrk="0" fontAlgn="base" hangingPunct="0">
              <a:lnSpc>
                <a:spcPct val="150000"/>
              </a:lnSpc>
              <a:spcBef>
                <a:spcPct val="0"/>
              </a:spcBef>
              <a:spcAft>
                <a:spcPct val="0"/>
              </a:spcAft>
              <a:buNone/>
            </a:pPr>
            <a:r>
              <a:rPr lang="en-US" altLang="en-US" sz="1600" b="1" dirty="0" smtClean="0">
                <a:latin typeface="Times New Roman" pitchFamily="18" charset="0"/>
                <a:cs typeface="Times New Roman" pitchFamily="18" charset="0"/>
              </a:rPr>
              <a:t>Base Paper Details</a:t>
            </a:r>
          </a:p>
          <a:p>
            <a:pPr marL="0" lvl="0" indent="0" eaLnBrk="0" fontAlgn="base" hangingPunct="0">
              <a:lnSpc>
                <a:spcPct val="150000"/>
              </a:lnSpc>
              <a:spcBef>
                <a:spcPct val="0"/>
              </a:spcBef>
              <a:spcAft>
                <a:spcPct val="0"/>
              </a:spcAft>
              <a:buNone/>
            </a:pPr>
            <a:r>
              <a:rPr lang="en-US" altLang="en-US" sz="1600" b="1" dirty="0" smtClean="0">
                <a:latin typeface="Times New Roman" pitchFamily="18" charset="0"/>
                <a:cs typeface="Times New Roman" pitchFamily="18" charset="0"/>
              </a:rPr>
              <a:t>Title:</a:t>
            </a:r>
            <a:r>
              <a:rPr lang="en-US" altLang="en-US" sz="1600" dirty="0" smtClean="0">
                <a:latin typeface="Times New Roman" pitchFamily="18" charset="0"/>
                <a:cs typeface="Times New Roman" pitchFamily="18" charset="0"/>
              </a:rPr>
              <a:t/>
            </a:r>
            <a:br>
              <a:rPr lang="en-US" altLang="en-US" sz="1600" dirty="0" smtClean="0">
                <a:latin typeface="Times New Roman" pitchFamily="18" charset="0"/>
                <a:cs typeface="Times New Roman" pitchFamily="18" charset="0"/>
              </a:rPr>
            </a:br>
            <a:r>
              <a:rPr lang="en-US" altLang="en-US" sz="1600" dirty="0" smtClean="0">
                <a:latin typeface="Times New Roman" pitchFamily="18" charset="0"/>
                <a:cs typeface="Times New Roman" pitchFamily="18" charset="0"/>
              </a:rPr>
              <a:t>Optimizing Machine Learning Operations in Multi-Cloud Infrastructure: A Framework for Unified Deployment Management and Topology Discovery</a:t>
            </a:r>
          </a:p>
          <a:p>
            <a:pPr lvl="0" eaLnBrk="0" fontAlgn="base" hangingPunct="0">
              <a:lnSpc>
                <a:spcPct val="150000"/>
              </a:lnSpc>
              <a:spcBef>
                <a:spcPct val="0"/>
              </a:spcBef>
              <a:spcAft>
                <a:spcPct val="0"/>
              </a:spcAft>
            </a:pPr>
            <a:r>
              <a:rPr lang="en-US" altLang="en-US" sz="1600" b="1" dirty="0" smtClean="0">
                <a:latin typeface="Times New Roman" pitchFamily="18" charset="0"/>
                <a:cs typeface="Times New Roman" pitchFamily="18" charset="0"/>
              </a:rPr>
              <a:t>Authors: </a:t>
            </a:r>
            <a:r>
              <a:rPr lang="en-US" altLang="en-US" sz="1600" dirty="0" err="1" smtClean="0">
                <a:latin typeface="Times New Roman" pitchFamily="18" charset="0"/>
                <a:cs typeface="Times New Roman" pitchFamily="18" charset="0"/>
              </a:rPr>
              <a:t>Hao</a:t>
            </a:r>
            <a:r>
              <a:rPr lang="en-US" altLang="en-US" sz="1600" dirty="0" smtClean="0">
                <a:latin typeface="Times New Roman" pitchFamily="18" charset="0"/>
                <a:cs typeface="Times New Roman" pitchFamily="18" charset="0"/>
              </a:rPr>
              <a:t> Wei, </a:t>
            </a:r>
            <a:r>
              <a:rPr lang="en-US" altLang="en-US" sz="1600" dirty="0" err="1" smtClean="0">
                <a:latin typeface="Times New Roman" pitchFamily="18" charset="0"/>
                <a:cs typeface="Times New Roman" pitchFamily="18" charset="0"/>
              </a:rPr>
              <a:t>Xabiel</a:t>
            </a:r>
            <a:r>
              <a:rPr lang="en-US" altLang="en-US" sz="1600" dirty="0" smtClean="0">
                <a:latin typeface="Times New Roman" pitchFamily="18" charset="0"/>
                <a:cs typeface="Times New Roman" pitchFamily="18" charset="0"/>
              </a:rPr>
              <a:t> </a:t>
            </a:r>
            <a:r>
              <a:rPr lang="en-US" altLang="en-US" sz="1600" dirty="0" err="1" smtClean="0">
                <a:latin typeface="Times New Roman" pitchFamily="18" charset="0"/>
                <a:cs typeface="Times New Roman" pitchFamily="18" charset="0"/>
              </a:rPr>
              <a:t>García</a:t>
            </a:r>
            <a:r>
              <a:rPr lang="en-US" altLang="en-US" sz="1600" dirty="0" smtClean="0">
                <a:latin typeface="Times New Roman" pitchFamily="18" charset="0"/>
                <a:cs typeface="Times New Roman" pitchFamily="18" charset="0"/>
              </a:rPr>
              <a:t> </a:t>
            </a:r>
            <a:r>
              <a:rPr lang="en-US" altLang="en-US" sz="1600" dirty="0" err="1" smtClean="0">
                <a:latin typeface="Times New Roman" pitchFamily="18" charset="0"/>
                <a:cs typeface="Times New Roman" pitchFamily="18" charset="0"/>
              </a:rPr>
              <a:t>Pañeda</a:t>
            </a:r>
            <a:r>
              <a:rPr lang="en-US" altLang="en-US" sz="1600" dirty="0" smtClean="0">
                <a:latin typeface="Times New Roman" pitchFamily="18" charset="0"/>
                <a:cs typeface="Times New Roman" pitchFamily="18" charset="0"/>
              </a:rPr>
              <a:t>, </a:t>
            </a:r>
            <a:r>
              <a:rPr lang="en-US" altLang="en-US" sz="1600" dirty="0" err="1" smtClean="0">
                <a:latin typeface="Times New Roman" pitchFamily="18" charset="0"/>
                <a:cs typeface="Times New Roman" pitchFamily="18" charset="0"/>
              </a:rPr>
              <a:t>Joaquín</a:t>
            </a:r>
            <a:r>
              <a:rPr lang="en-US" altLang="en-US" sz="1600" dirty="0" smtClean="0">
                <a:latin typeface="Times New Roman" pitchFamily="18" charset="0"/>
                <a:cs typeface="Times New Roman" pitchFamily="18" charset="0"/>
              </a:rPr>
              <a:t> </a:t>
            </a:r>
            <a:r>
              <a:rPr lang="en-US" altLang="en-US" sz="1600" dirty="0" err="1" smtClean="0">
                <a:latin typeface="Times New Roman" pitchFamily="18" charset="0"/>
                <a:cs typeface="Times New Roman" pitchFamily="18" charset="0"/>
              </a:rPr>
              <a:t>Salvachúa</a:t>
            </a:r>
            <a:r>
              <a:rPr lang="en-US" altLang="en-US" sz="1600" dirty="0" smtClean="0">
                <a:latin typeface="Times New Roman" pitchFamily="18" charset="0"/>
                <a:cs typeface="Times New Roman" pitchFamily="18" charset="0"/>
              </a:rPr>
              <a:t> Rodriguez</a:t>
            </a:r>
            <a:br>
              <a:rPr lang="en-US" altLang="en-US" sz="1600" dirty="0" smtClean="0">
                <a:latin typeface="Times New Roman" pitchFamily="18" charset="0"/>
                <a:cs typeface="Times New Roman" pitchFamily="18" charset="0"/>
              </a:rPr>
            </a:br>
            <a:r>
              <a:rPr lang="en-US" altLang="en-US" sz="1600" b="1" dirty="0" smtClean="0">
                <a:latin typeface="Times New Roman" pitchFamily="18" charset="0"/>
                <a:cs typeface="Times New Roman" pitchFamily="18" charset="0"/>
              </a:rPr>
              <a:t>Journal: </a:t>
            </a:r>
            <a:r>
              <a:rPr lang="en-US" altLang="en-US" sz="1600" dirty="0" smtClean="0">
                <a:latin typeface="Times New Roman" pitchFamily="18" charset="0"/>
                <a:cs typeface="Times New Roman" pitchFamily="18" charset="0"/>
              </a:rPr>
              <a:t>Cluster Computing (Springer)</a:t>
            </a:r>
            <a:br>
              <a:rPr lang="en-US" altLang="en-US" sz="1600" dirty="0" smtClean="0">
                <a:latin typeface="Times New Roman" pitchFamily="18" charset="0"/>
                <a:cs typeface="Times New Roman" pitchFamily="18" charset="0"/>
              </a:rPr>
            </a:br>
            <a:r>
              <a:rPr lang="en-US" altLang="en-US" sz="1600" b="1" dirty="0" smtClean="0">
                <a:latin typeface="Times New Roman" pitchFamily="18" charset="0"/>
                <a:cs typeface="Times New Roman" pitchFamily="18" charset="0"/>
              </a:rPr>
              <a:t>Year: </a:t>
            </a:r>
            <a:r>
              <a:rPr lang="en-US" altLang="en-US" sz="1600" dirty="0" smtClean="0">
                <a:latin typeface="Times New Roman" pitchFamily="18" charset="0"/>
                <a:cs typeface="Times New Roman" pitchFamily="18" charset="0"/>
              </a:rPr>
              <a:t>2025</a:t>
            </a:r>
          </a:p>
          <a:p>
            <a:pPr lvl="0" eaLnBrk="0" fontAlgn="base" hangingPunct="0">
              <a:lnSpc>
                <a:spcPct val="150000"/>
              </a:lnSpc>
              <a:spcBef>
                <a:spcPct val="0"/>
              </a:spcBef>
              <a:spcAft>
                <a:spcPct val="0"/>
              </a:spcAft>
            </a:pPr>
            <a:r>
              <a:rPr lang="en-US" altLang="en-US" sz="1600" b="1" dirty="0" smtClean="0">
                <a:latin typeface="Times New Roman" pitchFamily="18" charset="0"/>
                <a:cs typeface="Times New Roman" pitchFamily="18" charset="0"/>
              </a:rPr>
              <a:t>DOI: </a:t>
            </a:r>
            <a:r>
              <a:rPr lang="en-US" altLang="en-US" sz="1600" dirty="0" smtClean="0">
                <a:latin typeface="Times New Roman" pitchFamily="18" charset="0"/>
                <a:cs typeface="Times New Roman" pitchFamily="18" charset="0"/>
              </a:rPr>
              <a:t>10.1007/s10586-025-05584-7 </a:t>
            </a:r>
          </a:p>
          <a:p>
            <a:pPr lvl="0" eaLnBrk="0" fontAlgn="base" hangingPunct="0">
              <a:lnSpc>
                <a:spcPct val="150000"/>
              </a:lnSpc>
              <a:spcBef>
                <a:spcPct val="0"/>
              </a:spcBef>
              <a:spcAft>
                <a:spcPct val="0"/>
              </a:spcAft>
            </a:pPr>
            <a:endParaRPr lang="en-US" altLang="en-US" sz="1600" dirty="0" smtClean="0">
              <a:latin typeface="Times New Roman" pitchFamily="18" charset="0"/>
              <a:cs typeface="Times New Roman" pitchFamily="18" charset="0"/>
            </a:endParaRPr>
          </a:p>
          <a:p>
            <a:pPr>
              <a:lnSpc>
                <a:spcPct val="150000"/>
              </a:lnSpc>
            </a:pPr>
            <a:r>
              <a:rPr lang="en-IN" sz="1600" b="1" dirty="0" smtClean="0">
                <a:latin typeface="Times New Roman" pitchFamily="18" charset="0"/>
                <a:cs typeface="Times New Roman" pitchFamily="18" charset="0"/>
              </a:rPr>
              <a:t>Reference: </a:t>
            </a:r>
            <a:r>
              <a:rPr lang="en-IN" sz="1600" dirty="0" smtClean="0">
                <a:latin typeface="Times New Roman" pitchFamily="18" charset="0"/>
                <a:cs typeface="Times New Roman" pitchFamily="18" charset="0"/>
              </a:rPr>
              <a:t>Wei</a:t>
            </a:r>
            <a:r>
              <a:rPr lang="en-IN" sz="1600" dirty="0" smtClean="0">
                <a:latin typeface="Times New Roman" pitchFamily="18" charset="0"/>
                <a:cs typeface="Times New Roman" pitchFamily="18" charset="0"/>
              </a:rPr>
              <a:t>, H., </a:t>
            </a:r>
            <a:r>
              <a:rPr lang="en-IN" sz="1600" dirty="0" err="1" smtClean="0">
                <a:latin typeface="Times New Roman" pitchFamily="18" charset="0"/>
                <a:cs typeface="Times New Roman" pitchFamily="18" charset="0"/>
              </a:rPr>
              <a:t>García</a:t>
            </a:r>
            <a:r>
              <a:rPr lang="en-IN" sz="1600" dirty="0" smtClean="0">
                <a:latin typeface="Times New Roman" pitchFamily="18" charset="0"/>
                <a:cs typeface="Times New Roman" pitchFamily="18" charset="0"/>
              </a:rPr>
              <a:t> </a:t>
            </a:r>
            <a:r>
              <a:rPr lang="en-IN" sz="1600" dirty="0" err="1" smtClean="0">
                <a:latin typeface="Times New Roman" pitchFamily="18" charset="0"/>
                <a:cs typeface="Times New Roman" pitchFamily="18" charset="0"/>
              </a:rPr>
              <a:t>Pañeda</a:t>
            </a:r>
            <a:r>
              <a:rPr lang="en-IN" sz="1600" dirty="0" smtClean="0">
                <a:latin typeface="Times New Roman" pitchFamily="18" charset="0"/>
                <a:cs typeface="Times New Roman" pitchFamily="18" charset="0"/>
              </a:rPr>
              <a:t>, X., &amp; </a:t>
            </a:r>
            <a:r>
              <a:rPr lang="en-IN" sz="1600" dirty="0" err="1" smtClean="0">
                <a:latin typeface="Times New Roman" pitchFamily="18" charset="0"/>
                <a:cs typeface="Times New Roman" pitchFamily="18" charset="0"/>
              </a:rPr>
              <a:t>Salvachúa</a:t>
            </a:r>
            <a:r>
              <a:rPr lang="en-IN" sz="1600" dirty="0" smtClean="0">
                <a:latin typeface="Times New Roman" pitchFamily="18" charset="0"/>
                <a:cs typeface="Times New Roman" pitchFamily="18" charset="0"/>
              </a:rPr>
              <a:t> Rodriguez, J.,</a:t>
            </a:r>
            <a:br>
              <a:rPr lang="en-IN" sz="1600" dirty="0" smtClean="0">
                <a:latin typeface="Times New Roman" pitchFamily="18" charset="0"/>
                <a:cs typeface="Times New Roman" pitchFamily="18" charset="0"/>
              </a:rPr>
            </a:br>
            <a:r>
              <a:rPr lang="en-IN" sz="1600" dirty="0" smtClean="0">
                <a:latin typeface="Times New Roman" pitchFamily="18" charset="0"/>
                <a:cs typeface="Times New Roman" pitchFamily="18" charset="0"/>
              </a:rPr>
              <a:t>“Optimizing Machine Learning Operations in Multi-Cloud Infrastructure: A Framework for Unified Deployment Management and Topology Discovery,” </a:t>
            </a:r>
            <a:r>
              <a:rPr lang="en-IN" sz="1600" i="1" dirty="0" smtClean="0">
                <a:latin typeface="Times New Roman" pitchFamily="18" charset="0"/>
                <a:cs typeface="Times New Roman" pitchFamily="18" charset="0"/>
              </a:rPr>
              <a:t>Cluster Computing</a:t>
            </a:r>
            <a:r>
              <a:rPr lang="en-IN" sz="1600" dirty="0" smtClean="0">
                <a:latin typeface="Times New Roman" pitchFamily="18" charset="0"/>
                <a:cs typeface="Times New Roman" pitchFamily="18" charset="0"/>
              </a:rPr>
              <a:t>, vol. 28, 2025. </a:t>
            </a:r>
          </a:p>
          <a:p>
            <a:pPr lvl="0" eaLnBrk="0" fontAlgn="base" hangingPunct="0">
              <a:lnSpc>
                <a:spcPct val="150000"/>
              </a:lnSpc>
              <a:spcBef>
                <a:spcPct val="0"/>
              </a:spcBef>
              <a:spcAft>
                <a:spcPct val="0"/>
              </a:spcAft>
              <a:buNone/>
            </a:pPr>
            <a:r>
              <a:rPr lang="en-US" altLang="en-US" sz="1600" dirty="0" smtClean="0">
                <a:latin typeface="Times New Roman" pitchFamily="18" charset="0"/>
                <a:cs typeface="Times New Roman" pitchFamily="18" charset="0"/>
              </a:rPr>
              <a:t/>
            </a:r>
            <a:br>
              <a:rPr lang="en-US" altLang="en-US" sz="1600" dirty="0" smtClean="0">
                <a:latin typeface="Times New Roman" pitchFamily="18" charset="0"/>
                <a:cs typeface="Times New Roman" pitchFamily="18" charset="0"/>
              </a:rPr>
            </a:br>
            <a:endParaRPr lang="en-US" altLang="en-US" sz="1600" dirty="0" smtClean="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p:txBody>
      </p:sp>
      <p:sp>
        <p:nvSpPr>
          <p:cNvPr id="4" name="Title 1"/>
          <p:cNvSpPr>
            <a:spLocks noGrp="1"/>
          </p:cNvSpPr>
          <p:nvPr>
            <p:ph type="title"/>
          </p:nvPr>
        </p:nvSpPr>
        <p:spPr>
          <a:xfrm>
            <a:off x="6162" y="2652"/>
            <a:ext cx="10515600" cy="1109455"/>
          </a:xfrm>
          <a:solidFill>
            <a:srgbClr val="002060"/>
          </a:solidFill>
        </p:spPr>
        <p:txBody>
          <a:bodyPr/>
          <a:lstStyle/>
          <a:p>
            <a:pPr>
              <a:lnSpc>
                <a:spcPct val="100000"/>
              </a:lnSpc>
            </a:pPr>
            <a:r>
              <a:rPr lang="en-IN" b="1" dirty="0" smtClean="0">
                <a:ln>
                  <a:solidFill>
                    <a:schemeClr val="bg1"/>
                  </a:solidFill>
                </a:ln>
                <a:solidFill>
                  <a:schemeClr val="bg1"/>
                </a:solidFill>
                <a:latin typeface="Times New Roman" panose="02020603050405020304" pitchFamily="18" charset="0"/>
                <a:cs typeface="Times New Roman" panose="02020603050405020304" pitchFamily="18" charset="0"/>
              </a:rPr>
              <a:t>References </a:t>
            </a:r>
            <a:endParaRPr lang="en-IN" b="1"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0629575" y="0"/>
            <a:ext cx="1455420" cy="113665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024FBE6-F58E-0296-C159-A62254B09240}"/>
              </a:ext>
            </a:extLst>
          </p:cNvPr>
          <p:cNvSpPr txBox="1">
            <a:spLocks/>
          </p:cNvSpPr>
          <p:nvPr/>
        </p:nvSpPr>
        <p:spPr>
          <a:xfrm>
            <a:off x="4408098" y="3135972"/>
            <a:ext cx="2724150" cy="1325562"/>
          </a:xfrm>
          <a:prstGeom prst="rect">
            <a:avLst/>
          </a:prstGeom>
          <a:solidFill>
            <a:srgbClr val="002060"/>
          </a:solidFill>
        </p:spPr>
        <p:txBody>
          <a:bodyPr vert="horz" lIns="91440" tIns="45720" rIns="91440" bIns="45720" rtlCol="0" anchor="ctr">
            <a:normAutofit/>
          </a:bodyPr>
          <a:lstStyle>
            <a:lvl1pPr marL="228600" indent="-228600" algn="l" defTabSz="914400" rtl="0" eaLnBrk="1" latinLnBrk="0" hangingPunct="1">
              <a:lnSpc>
                <a:spcPct val="90000"/>
              </a:lnSpc>
              <a:spcBef>
                <a:spcPct val="0"/>
              </a:spcBef>
              <a:buFont typeface="Arial" panose="020B0604020202020204" pitchFamily="34" charset="0"/>
              <a:buNone/>
              <a:defRPr sz="4400" kern="1200">
                <a:solidFill>
                  <a:schemeClr val="tx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b="1" smtClean="0">
                <a:ln>
                  <a:solidFill>
                    <a:schemeClr val="bg1"/>
                  </a:solidFill>
                </a:ln>
                <a:solidFill>
                  <a:schemeClr val="bg1"/>
                </a:solidFill>
              </a:rPr>
              <a:t>Thank You</a:t>
            </a:r>
            <a:endParaRPr lang="en-IN" b="1" dirty="0">
              <a:ln>
                <a:solidFill>
                  <a:schemeClr val="bg1"/>
                </a:solidFill>
              </a:ln>
              <a:solidFill>
                <a:schemeClr val="bg1"/>
              </a:solidFill>
            </a:endParaRPr>
          </a:p>
        </p:txBody>
      </p:sp>
    </p:spTree>
    <p:extLst>
      <p:ext uri="{BB962C8B-B14F-4D97-AF65-F5344CB8AC3E}">
        <p14:creationId xmlns:p14="http://schemas.microsoft.com/office/powerpoint/2010/main" val="3486697939"/>
      </p:ext>
    </p:extLst>
  </p:cSld>
  <p:clrMapOvr>
    <a:masterClrMapping/>
  </p:clrMapOvr>
</p:sld>
</file>

<file path=ppt/theme/theme1.xml><?xml version="1.0" encoding="utf-8"?>
<a:theme xmlns:a="http://schemas.openxmlformats.org/drawingml/2006/main" name="SAI VIDYA INSTITUTE OF TECHNOLOG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SAI VIDYA INSTITUTE OF TECHNOLOGY</Template>
  <TotalTime>356</TotalTime>
  <Words>852</Words>
  <Application>Microsoft Office PowerPoint</Application>
  <PresentationFormat>Widescreen</PresentationFormat>
  <Paragraphs>166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SAI VIDYA INSTITUTE OF TECHNOLOGY</vt:lpstr>
      <vt:lpstr>RAJARAJESWARI COLLEGE OF ENGINEERING</vt:lpstr>
      <vt:lpstr>Introduction</vt:lpstr>
      <vt:lpstr>PowerPoint Presentation</vt:lpstr>
      <vt:lpstr>PowerPoint Presentation</vt:lpstr>
      <vt:lpstr>Literature Review</vt:lpstr>
      <vt:lpstr>PowerPoint Presentation</vt:lpstr>
      <vt:lpstr>Methodology </vt:lpstr>
      <vt:lpstr>Facilities Required for Proposed work </vt:lpstr>
      <vt:lpstr>Expected Outcomes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 VIDYA INSTITUTE OF TECHNOLOGY</dc:title>
  <dc:creator>abhijith</dc:creator>
  <cp:lastModifiedBy>Shravan M</cp:lastModifiedBy>
  <cp:revision>69</cp:revision>
  <dcterms:created xsi:type="dcterms:W3CDTF">2018-09-27T05:23:00Z</dcterms:created>
  <dcterms:modified xsi:type="dcterms:W3CDTF">2026-03-31T05:17:21Z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1438E5A0A73848F3905F444746EDD901_12</vt:lpwstr>
  </property>
  <property fmtid="{D5CDD505-2E9C-101B-9397-08002B2CF9AE}" pid="3" name="KSOProductBuildVer">
    <vt:lpwstr>1033-12.2.0.13266</vt:lpwstr>
  </property>
</Properties>
</file>